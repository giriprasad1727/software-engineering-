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3" d="100"/>
          <a:sy n="53" d="100"/>
        </p:scale>
        <p:origin x="802"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189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692640" y="-1280160"/>
            <a:ext cx="4754880" cy="4754880"/>
          </a:xfrm>
          <a:prstGeom prst="ellipse">
            <a:avLst/>
          </a:prstGeom>
          <a:solidFill>
            <a:srgbClr val="065A82">
              <a:alpha val="45000"/>
            </a:srgbClr>
          </a:solidFill>
          <a:ln/>
        </p:spPr>
      </p:sp>
      <p:sp>
        <p:nvSpPr>
          <p:cNvPr id="4" name="Shape 2"/>
          <p:cNvSpPr/>
          <p:nvPr/>
        </p:nvSpPr>
        <p:spPr>
          <a:xfrm>
            <a:off x="822960" y="777240"/>
            <a:ext cx="1051560" cy="1051560"/>
          </a:xfrm>
          <a:prstGeom prst="ellipse">
            <a:avLst/>
          </a:prstGeom>
          <a:solidFill>
            <a:srgbClr val="065A82"/>
          </a:solidFill>
          <a:ln/>
        </p:spPr>
      </p:sp>
      <p:pic>
        <p:nvPicPr>
          <p:cNvPr id="5" name="Image 0" descr="/home/claude/pptx_work/icon_city_FFFFFF.png"/>
          <p:cNvPicPr>
            <a:picLocks noChangeAspect="1"/>
          </p:cNvPicPr>
          <p:nvPr/>
        </p:nvPicPr>
        <p:blipFill>
          <a:blip r:embed="rId3"/>
          <a:stretch>
            <a:fillRect/>
          </a:stretch>
        </p:blipFill>
        <p:spPr>
          <a:xfrm>
            <a:off x="1059561" y="1013841"/>
            <a:ext cx="578358" cy="578358"/>
          </a:xfrm>
          <a:prstGeom prst="rect">
            <a:avLst/>
          </a:prstGeom>
        </p:spPr>
      </p:pic>
      <p:sp>
        <p:nvSpPr>
          <p:cNvPr id="6" name="Text 3"/>
          <p:cNvSpPr/>
          <p:nvPr/>
        </p:nvSpPr>
        <p:spPr>
          <a:xfrm>
            <a:off x="822960" y="1965960"/>
            <a:ext cx="10515600" cy="365760"/>
          </a:xfrm>
          <a:prstGeom prst="rect">
            <a:avLst/>
          </a:prstGeom>
          <a:noFill/>
          <a:ln/>
        </p:spPr>
        <p:txBody>
          <a:bodyPr wrap="square" rtlCol="0" anchor="ctr"/>
          <a:lstStyle/>
          <a:p>
            <a:pPr marL="0" indent="0">
              <a:buNone/>
            </a:pPr>
            <a:endParaRPr lang="en-US" sz="1300" dirty="0"/>
          </a:p>
        </p:txBody>
      </p:sp>
      <p:sp>
        <p:nvSpPr>
          <p:cNvPr id="7" name="Text 4"/>
          <p:cNvSpPr/>
          <p:nvPr/>
        </p:nvSpPr>
        <p:spPr>
          <a:xfrm>
            <a:off x="609600" y="2377440"/>
            <a:ext cx="11698514" cy="1828800"/>
          </a:xfrm>
          <a:prstGeom prst="rect">
            <a:avLst/>
          </a:prstGeom>
          <a:noFill/>
          <a:ln/>
        </p:spPr>
        <p:txBody>
          <a:bodyPr wrap="square" rtlCol="0" anchor="t"/>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Smart Cities and AI-Driven Urban Technologies</a:t>
            </a:r>
            <a:endParaRPr lang="en-US" sz="4000" dirty="0"/>
          </a:p>
        </p:txBody>
      </p:sp>
      <p:sp>
        <p:nvSpPr>
          <p:cNvPr id="8" name="Text 5"/>
          <p:cNvSpPr/>
          <p:nvPr/>
        </p:nvSpPr>
        <p:spPr>
          <a:xfrm>
            <a:off x="822960" y="4160520"/>
            <a:ext cx="8961120" cy="822960"/>
          </a:xfrm>
          <a:prstGeom prst="rect">
            <a:avLst/>
          </a:prstGeom>
          <a:noFill/>
          <a:ln/>
        </p:spPr>
        <p:txBody>
          <a:bodyPr wrap="square" rtlCol="0" anchor="ctr"/>
          <a:lstStyle/>
          <a:p>
            <a:pPr marL="0" indent="0">
              <a:lnSpc>
                <a:spcPct val="130000"/>
              </a:lnSpc>
              <a:buNone/>
            </a:pPr>
            <a:r>
              <a:rPr lang="en-US" sz="1500" dirty="0">
                <a:solidFill>
                  <a:srgbClr val="C9DCE6"/>
                </a:solidFill>
                <a:latin typeface="Calibri" pitchFamily="34" charset="0"/>
                <a:ea typeface="Calibri" pitchFamily="34" charset="-122"/>
                <a:cs typeface="Calibri" pitchFamily="34" charset="-120"/>
              </a:rPr>
              <a:t>.</a:t>
            </a:r>
            <a:endParaRPr lang="en-US" sz="1500" dirty="0"/>
          </a:p>
        </p:txBody>
      </p:sp>
      <p:sp>
        <p:nvSpPr>
          <p:cNvPr id="11" name="TextBox 10">
            <a:extLst>
              <a:ext uri="{FF2B5EF4-FFF2-40B4-BE49-F238E27FC236}">
                <a16:creationId xmlns:a16="http://schemas.microsoft.com/office/drawing/2014/main" id="{5972BC86-6729-064C-5EE5-682A37BD279C}"/>
              </a:ext>
            </a:extLst>
          </p:cNvPr>
          <p:cNvSpPr txBox="1"/>
          <p:nvPr/>
        </p:nvSpPr>
        <p:spPr>
          <a:xfrm>
            <a:off x="6096000" y="4983480"/>
            <a:ext cx="5273040" cy="830997"/>
          </a:xfrm>
          <a:prstGeom prst="rect">
            <a:avLst/>
          </a:prstGeom>
          <a:noFill/>
        </p:spPr>
        <p:txBody>
          <a:bodyPr wrap="square" rtlCol="0">
            <a:spAutoFit/>
          </a:bodyPr>
          <a:lstStyle/>
          <a:p>
            <a:r>
              <a:rPr lang="en-US" sz="2400" b="1" dirty="0">
                <a:solidFill>
                  <a:srgbClr val="FFC000"/>
                </a:solidFill>
                <a:latin typeface="Times New Roman" panose="02020603050405020304" pitchFamily="18" charset="0"/>
                <a:cs typeface="Times New Roman" panose="02020603050405020304" pitchFamily="18" charset="0"/>
              </a:rPr>
              <a:t>PRESENTED BY:</a:t>
            </a:r>
          </a:p>
          <a:p>
            <a:r>
              <a:rPr lang="en-US" sz="2400" b="1" dirty="0">
                <a:solidFill>
                  <a:srgbClr val="FFC000"/>
                </a:solidFill>
                <a:latin typeface="Times New Roman" panose="02020603050405020304" pitchFamily="18" charset="0"/>
                <a:cs typeface="Times New Roman" panose="02020603050405020304" pitchFamily="18" charset="0"/>
              </a:rPr>
              <a:t>P GIRIPRASAD REDDY(192525172</a:t>
            </a:r>
            <a:r>
              <a:rPr lang="en-US" b="1" dirty="0">
                <a:solidFill>
                  <a:srgbClr val="FFC000"/>
                </a:solidFill>
                <a:latin typeface="Times New Roman" panose="02020603050405020304" pitchFamily="18" charset="0"/>
                <a:cs typeface="Times New Roman" panose="02020603050405020304" pitchFamily="18" charset="0"/>
              </a:rPr>
              <a:t>)</a:t>
            </a:r>
          </a:p>
        </p:txBody>
      </p:sp>
      <p:sp>
        <p:nvSpPr>
          <p:cNvPr id="9" name="TextBox 8">
            <a:extLst>
              <a:ext uri="{FF2B5EF4-FFF2-40B4-BE49-F238E27FC236}">
                <a16:creationId xmlns:a16="http://schemas.microsoft.com/office/drawing/2014/main" id="{4F79F935-8802-ED26-3A60-57357C993B5B}"/>
              </a:ext>
            </a:extLst>
          </p:cNvPr>
          <p:cNvSpPr txBox="1"/>
          <p:nvPr/>
        </p:nvSpPr>
        <p:spPr>
          <a:xfrm>
            <a:off x="822960" y="4760686"/>
            <a:ext cx="3624632" cy="1569660"/>
          </a:xfrm>
          <a:prstGeom prst="rect">
            <a:avLst/>
          </a:prstGeom>
          <a:noFill/>
        </p:spPr>
        <p:txBody>
          <a:bodyPr wrap="square" rtlCol="0">
            <a:spAutoFit/>
          </a:bodyPr>
          <a:lstStyle/>
          <a:p>
            <a:pPr marL="0" marR="0" algn="ctr">
              <a:spcBef>
                <a:spcPts val="0"/>
              </a:spcBef>
              <a:spcAft>
                <a:spcPts val="600"/>
              </a:spcAft>
            </a:pPr>
            <a:r>
              <a:rPr lang="en-US" sz="2400" b="1" dirty="0">
                <a:solidFill>
                  <a:srgbClr val="FFFF00"/>
                </a:solidFill>
                <a:effectLst/>
                <a:latin typeface="Times New Roman" panose="02020603050405020304" pitchFamily="18" charset="0"/>
                <a:ea typeface="Times New Roman" panose="02020603050405020304" pitchFamily="18" charset="0"/>
              </a:rPr>
              <a:t>Under the Supervision of</a:t>
            </a:r>
          </a:p>
          <a:p>
            <a:pPr marL="0" marR="0" algn="ctr">
              <a:spcBef>
                <a:spcPts val="0"/>
              </a:spcBef>
              <a:spcAft>
                <a:spcPts val="3000"/>
              </a:spcAft>
            </a:pPr>
            <a:r>
              <a:rPr lang="en-US" sz="2400" b="1" dirty="0">
                <a:solidFill>
                  <a:srgbClr val="FFFF00"/>
                </a:solidFill>
                <a:effectLst/>
                <a:latin typeface="Times New Roman" panose="02020603050405020304" pitchFamily="18" charset="0"/>
                <a:ea typeface="Times New Roman" panose="02020603050405020304" pitchFamily="18" charset="0"/>
              </a:rPr>
              <a:t>Dr. </a:t>
            </a:r>
            <a:r>
              <a:rPr lang="en-US" sz="2400" b="1" dirty="0" err="1">
                <a:solidFill>
                  <a:srgbClr val="FFFF00"/>
                </a:solidFill>
                <a:effectLst/>
                <a:latin typeface="Times New Roman" panose="02020603050405020304" pitchFamily="18" charset="0"/>
                <a:ea typeface="Times New Roman" panose="02020603050405020304" pitchFamily="18" charset="0"/>
              </a:rPr>
              <a:t>Anitadavamani</a:t>
            </a:r>
            <a:r>
              <a:rPr lang="en-US" sz="2400" b="1" dirty="0">
                <a:solidFill>
                  <a:srgbClr val="FFFF00"/>
                </a:solidFill>
                <a:effectLst/>
                <a:latin typeface="Times New Roman" panose="02020603050405020304" pitchFamily="18" charset="0"/>
                <a:ea typeface="Times New Roman" panose="02020603050405020304" pitchFamily="18" charset="0"/>
              </a:rPr>
              <a:t> k</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 cy="457200"/>
          </a:xfrm>
          <a:prstGeom prst="rect">
            <a:avLst/>
          </a:prstGeom>
          <a:noFill/>
          <a:ln/>
        </p:spPr>
        <p:txBody>
          <a:bodyPr wrap="square" rtlCol="0" anchor="ctr"/>
          <a:lstStyle/>
          <a:p>
            <a:pPr marL="0" indent="0">
              <a:buNone/>
            </a:pPr>
            <a:r>
              <a:rPr lang="en-US" sz="2000" b="1" dirty="0">
                <a:solidFill>
                  <a:srgbClr val="C7D6DD"/>
                </a:solidFill>
                <a:latin typeface="Cambria" pitchFamily="34" charset="0"/>
                <a:ea typeface="Cambria" pitchFamily="34" charset="-122"/>
                <a:cs typeface="Cambria" pitchFamily="34" charset="-120"/>
              </a:rPr>
              <a:t>01</a:t>
            </a:r>
            <a:endParaRPr lang="en-US" sz="2000" dirty="0"/>
          </a:p>
        </p:txBody>
      </p:sp>
      <p:sp>
        <p:nvSpPr>
          <p:cNvPr id="3" name="Text 1"/>
          <p:cNvSpPr/>
          <p:nvPr/>
        </p:nvSpPr>
        <p:spPr>
          <a:xfrm>
            <a:off x="640080" y="777240"/>
            <a:ext cx="10881360" cy="64008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Introduction &amp; Need for Smart Cities</a:t>
            </a:r>
            <a:endParaRPr lang="en-US" sz="2800" dirty="0"/>
          </a:p>
        </p:txBody>
      </p:sp>
      <p:sp>
        <p:nvSpPr>
          <p:cNvPr id="4" name="Text 2"/>
          <p:cNvSpPr/>
          <p:nvPr/>
        </p:nvSpPr>
        <p:spPr>
          <a:xfrm>
            <a:off x="640080" y="1691640"/>
            <a:ext cx="5943600" cy="365760"/>
          </a:xfrm>
          <a:prstGeom prst="rect">
            <a:avLst/>
          </a:prstGeom>
          <a:noFill/>
          <a:ln/>
        </p:spPr>
        <p:txBody>
          <a:bodyPr wrap="square"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What is a Smart City?</a:t>
            </a:r>
            <a:endParaRPr lang="en-US" sz="1600" dirty="0"/>
          </a:p>
        </p:txBody>
      </p:sp>
      <p:sp>
        <p:nvSpPr>
          <p:cNvPr id="5" name="Text 3"/>
          <p:cNvSpPr/>
          <p:nvPr/>
        </p:nvSpPr>
        <p:spPr>
          <a:xfrm>
            <a:off x="640080" y="2103120"/>
            <a:ext cx="5943600" cy="1188720"/>
          </a:xfrm>
          <a:prstGeom prst="rect">
            <a:avLst/>
          </a:prstGeom>
          <a:noFill/>
          <a:ln/>
        </p:spPr>
        <p:txBody>
          <a:bodyPr wrap="square" rtlCol="0" anchor="ctr"/>
          <a:lstStyle/>
          <a:p>
            <a:pPr marL="0" indent="0">
              <a:lnSpc>
                <a:spcPct val="135000"/>
              </a:lnSpc>
              <a:buNone/>
            </a:pPr>
            <a:r>
              <a:rPr lang="en-US" sz="1350" dirty="0">
                <a:solidFill>
                  <a:srgbClr val="1B2733"/>
                </a:solidFill>
                <a:latin typeface="Calibri" pitchFamily="34" charset="0"/>
                <a:ea typeface="Calibri" pitchFamily="34" charset="-122"/>
                <a:cs typeface="Calibri" pitchFamily="34" charset="-120"/>
              </a:rPr>
              <a:t>A smart city uses AI, IoT sensors, and real-time data platforms to manage urban infrastructure — traffic, energy, water, waste, and safety — more efficiently, turning raw city data into automated, evidence-based decisions.</a:t>
            </a:r>
            <a:endParaRPr lang="en-US" sz="1350" dirty="0"/>
          </a:p>
        </p:txBody>
      </p:sp>
      <p:sp>
        <p:nvSpPr>
          <p:cNvPr id="6" name="Text 4"/>
          <p:cNvSpPr/>
          <p:nvPr/>
        </p:nvSpPr>
        <p:spPr>
          <a:xfrm>
            <a:off x="640080" y="3383280"/>
            <a:ext cx="5943600" cy="365760"/>
          </a:xfrm>
          <a:prstGeom prst="rect">
            <a:avLst/>
          </a:prstGeom>
          <a:noFill/>
          <a:ln/>
        </p:spPr>
        <p:txBody>
          <a:bodyPr wrap="square"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Why Now: The Motivation</a:t>
            </a:r>
            <a:endParaRPr lang="en-US" sz="1600" dirty="0"/>
          </a:p>
        </p:txBody>
      </p:sp>
      <p:sp>
        <p:nvSpPr>
          <p:cNvPr id="7" name="Shape 5"/>
          <p:cNvSpPr/>
          <p:nvPr/>
        </p:nvSpPr>
        <p:spPr>
          <a:xfrm>
            <a:off x="640080" y="3822192"/>
            <a:ext cx="146304" cy="146304"/>
          </a:xfrm>
          <a:prstGeom prst="ellipse">
            <a:avLst/>
          </a:prstGeom>
          <a:solidFill>
            <a:srgbClr val="1C7293"/>
          </a:solidFill>
          <a:ln/>
        </p:spPr>
      </p:sp>
      <p:sp>
        <p:nvSpPr>
          <p:cNvPr id="8" name="Text 6"/>
          <p:cNvSpPr/>
          <p:nvPr/>
        </p:nvSpPr>
        <p:spPr>
          <a:xfrm>
            <a:off x="960120" y="3703320"/>
            <a:ext cx="5623560" cy="457200"/>
          </a:xfrm>
          <a:prstGeom prst="rect">
            <a:avLst/>
          </a:prstGeom>
          <a:noFill/>
          <a:ln/>
        </p:spPr>
        <p:txBody>
          <a:bodyPr wrap="square" rtlCol="0" anchor="t"/>
          <a:lstStyle/>
          <a:p>
            <a:pPr marL="0" indent="0">
              <a:buNone/>
            </a:pPr>
            <a:r>
              <a:rPr lang="en-US" sz="1250" dirty="0">
                <a:solidFill>
                  <a:srgbClr val="1B2733"/>
                </a:solidFill>
                <a:latin typeface="Calibri" pitchFamily="34" charset="0"/>
                <a:ea typeface="Calibri" pitchFamily="34" charset="-122"/>
                <a:cs typeface="Calibri" pitchFamily="34" charset="-120"/>
              </a:rPr>
              <a:t>Rapid urbanization straining transport, power, and water systems</a:t>
            </a:r>
            <a:endParaRPr lang="en-US" sz="1250" dirty="0"/>
          </a:p>
        </p:txBody>
      </p:sp>
      <p:sp>
        <p:nvSpPr>
          <p:cNvPr id="9" name="Shape 7"/>
          <p:cNvSpPr/>
          <p:nvPr/>
        </p:nvSpPr>
        <p:spPr>
          <a:xfrm>
            <a:off x="640080" y="4325112"/>
            <a:ext cx="146304" cy="146304"/>
          </a:xfrm>
          <a:prstGeom prst="ellipse">
            <a:avLst/>
          </a:prstGeom>
          <a:solidFill>
            <a:srgbClr val="1C7293"/>
          </a:solidFill>
          <a:ln/>
        </p:spPr>
      </p:sp>
      <p:sp>
        <p:nvSpPr>
          <p:cNvPr id="10" name="Text 8"/>
          <p:cNvSpPr/>
          <p:nvPr/>
        </p:nvSpPr>
        <p:spPr>
          <a:xfrm>
            <a:off x="960120" y="4206240"/>
            <a:ext cx="5623560" cy="457200"/>
          </a:xfrm>
          <a:prstGeom prst="rect">
            <a:avLst/>
          </a:prstGeom>
          <a:noFill/>
          <a:ln/>
        </p:spPr>
        <p:txBody>
          <a:bodyPr wrap="square" rtlCol="0" anchor="t"/>
          <a:lstStyle/>
          <a:p>
            <a:pPr marL="0" indent="0">
              <a:buNone/>
            </a:pPr>
            <a:r>
              <a:rPr lang="en-US" sz="1250" dirty="0">
                <a:solidFill>
                  <a:srgbClr val="1B2733"/>
                </a:solidFill>
                <a:latin typeface="Calibri" pitchFamily="34" charset="0"/>
                <a:ea typeface="Calibri" pitchFamily="34" charset="-122"/>
                <a:cs typeface="Calibri" pitchFamily="34" charset="-120"/>
              </a:rPr>
              <a:t>Rising demand for sustainable, low-carbon city operations</a:t>
            </a:r>
            <a:endParaRPr lang="en-US" sz="1250" dirty="0"/>
          </a:p>
        </p:txBody>
      </p:sp>
      <p:sp>
        <p:nvSpPr>
          <p:cNvPr id="11" name="Shape 9"/>
          <p:cNvSpPr/>
          <p:nvPr/>
        </p:nvSpPr>
        <p:spPr>
          <a:xfrm>
            <a:off x="640080" y="4828032"/>
            <a:ext cx="146304" cy="146304"/>
          </a:xfrm>
          <a:prstGeom prst="ellipse">
            <a:avLst/>
          </a:prstGeom>
          <a:solidFill>
            <a:srgbClr val="1C7293"/>
          </a:solidFill>
          <a:ln/>
        </p:spPr>
      </p:sp>
      <p:sp>
        <p:nvSpPr>
          <p:cNvPr id="12" name="Text 10"/>
          <p:cNvSpPr/>
          <p:nvPr/>
        </p:nvSpPr>
        <p:spPr>
          <a:xfrm>
            <a:off x="960120" y="4709160"/>
            <a:ext cx="5623560" cy="457200"/>
          </a:xfrm>
          <a:prstGeom prst="rect">
            <a:avLst/>
          </a:prstGeom>
          <a:noFill/>
          <a:ln/>
        </p:spPr>
        <p:txBody>
          <a:bodyPr wrap="square" rtlCol="0" anchor="t"/>
          <a:lstStyle/>
          <a:p>
            <a:pPr marL="0" indent="0">
              <a:buNone/>
            </a:pPr>
            <a:r>
              <a:rPr lang="en-US" sz="1250" dirty="0">
                <a:solidFill>
                  <a:srgbClr val="1B2733"/>
                </a:solidFill>
                <a:latin typeface="Calibri" pitchFamily="34" charset="0"/>
                <a:ea typeface="Calibri" pitchFamily="34" charset="-122"/>
                <a:cs typeface="Calibri" pitchFamily="34" charset="-120"/>
              </a:rPr>
              <a:t>Citizens expect faster, data-driven public services</a:t>
            </a:r>
            <a:endParaRPr lang="en-US" sz="1250" dirty="0"/>
          </a:p>
        </p:txBody>
      </p:sp>
      <p:sp>
        <p:nvSpPr>
          <p:cNvPr id="13" name="Shape 11"/>
          <p:cNvSpPr/>
          <p:nvPr/>
        </p:nvSpPr>
        <p:spPr>
          <a:xfrm>
            <a:off x="640080" y="5330952"/>
            <a:ext cx="146304" cy="146304"/>
          </a:xfrm>
          <a:prstGeom prst="ellipse">
            <a:avLst/>
          </a:prstGeom>
          <a:solidFill>
            <a:srgbClr val="1C7293"/>
          </a:solidFill>
          <a:ln/>
        </p:spPr>
      </p:sp>
      <p:sp>
        <p:nvSpPr>
          <p:cNvPr id="14" name="Text 12"/>
          <p:cNvSpPr/>
          <p:nvPr/>
        </p:nvSpPr>
        <p:spPr>
          <a:xfrm>
            <a:off x="960120" y="5212080"/>
            <a:ext cx="5623560" cy="457200"/>
          </a:xfrm>
          <a:prstGeom prst="rect">
            <a:avLst/>
          </a:prstGeom>
          <a:noFill/>
          <a:ln/>
        </p:spPr>
        <p:txBody>
          <a:bodyPr wrap="square" rtlCol="0" anchor="t"/>
          <a:lstStyle/>
          <a:p>
            <a:pPr marL="0" indent="0">
              <a:buNone/>
            </a:pPr>
            <a:r>
              <a:rPr lang="en-US" sz="1250" dirty="0">
                <a:solidFill>
                  <a:srgbClr val="1B2733"/>
                </a:solidFill>
                <a:latin typeface="Calibri" pitchFamily="34" charset="0"/>
                <a:ea typeface="Calibri" pitchFamily="34" charset="-122"/>
                <a:cs typeface="Calibri" pitchFamily="34" charset="-120"/>
              </a:rPr>
              <a:t>Falling cost of sensors, connectivity, and edge AI hardware</a:t>
            </a:r>
            <a:endParaRPr lang="en-US" sz="1250" dirty="0"/>
          </a:p>
        </p:txBody>
      </p:sp>
      <p:sp>
        <p:nvSpPr>
          <p:cNvPr id="15" name="Shape 13"/>
          <p:cNvSpPr/>
          <p:nvPr/>
        </p:nvSpPr>
        <p:spPr>
          <a:xfrm>
            <a:off x="7086600" y="1691640"/>
            <a:ext cx="4434840" cy="4526280"/>
          </a:xfrm>
          <a:prstGeom prst="roundRect">
            <a:avLst>
              <a:gd name="adj" fmla="val 2474"/>
            </a:avLst>
          </a:prstGeom>
          <a:solidFill>
            <a:srgbClr val="F4F8FA"/>
          </a:solidFill>
          <a:ln/>
          <a:effectLst>
            <a:outerShdw blurRad="101600" dist="38100" dir="5400000" algn="bl" rotWithShape="0">
              <a:srgbClr val="6B7A85">
                <a:alpha val="25000"/>
              </a:srgbClr>
            </a:outerShdw>
          </a:effectLst>
        </p:spPr>
      </p:sp>
      <p:sp>
        <p:nvSpPr>
          <p:cNvPr id="16" name="Shape 14"/>
          <p:cNvSpPr/>
          <p:nvPr/>
        </p:nvSpPr>
        <p:spPr>
          <a:xfrm>
            <a:off x="7452360" y="2057400"/>
            <a:ext cx="777240" cy="777240"/>
          </a:xfrm>
          <a:prstGeom prst="ellipse">
            <a:avLst/>
          </a:prstGeom>
          <a:solidFill>
            <a:srgbClr val="065A82"/>
          </a:solidFill>
          <a:ln/>
        </p:spPr>
      </p:sp>
      <p:pic>
        <p:nvPicPr>
          <p:cNvPr id="17" name="Image 0" descr="/home/claude/pptx_work/icon_chart_FFFFFF.png"/>
          <p:cNvPicPr>
            <a:picLocks noChangeAspect="1"/>
          </p:cNvPicPr>
          <p:nvPr/>
        </p:nvPicPr>
        <p:blipFill>
          <a:blip r:embed="rId3"/>
          <a:stretch>
            <a:fillRect/>
          </a:stretch>
        </p:blipFill>
        <p:spPr>
          <a:xfrm>
            <a:off x="7627239" y="2232279"/>
            <a:ext cx="427482" cy="427482"/>
          </a:xfrm>
          <a:prstGeom prst="rect">
            <a:avLst/>
          </a:prstGeom>
        </p:spPr>
      </p:pic>
      <p:sp>
        <p:nvSpPr>
          <p:cNvPr id="18" name="Text 15"/>
          <p:cNvSpPr/>
          <p:nvPr/>
        </p:nvSpPr>
        <p:spPr>
          <a:xfrm>
            <a:off x="8366760" y="2011680"/>
            <a:ext cx="2926080" cy="54864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68%</a:t>
            </a:r>
            <a:endParaRPr lang="en-US" sz="3000" dirty="0"/>
          </a:p>
        </p:txBody>
      </p:sp>
      <p:sp>
        <p:nvSpPr>
          <p:cNvPr id="19" name="Text 16"/>
          <p:cNvSpPr/>
          <p:nvPr/>
        </p:nvSpPr>
        <p:spPr>
          <a:xfrm>
            <a:off x="8366760" y="2514600"/>
            <a:ext cx="2971800" cy="685800"/>
          </a:xfrm>
          <a:prstGeom prst="rect">
            <a:avLst/>
          </a:prstGeom>
          <a:noFill/>
          <a:ln/>
        </p:spPr>
        <p:txBody>
          <a:bodyPr wrap="square" rtlCol="0" anchor="ctr"/>
          <a:lstStyle/>
          <a:p>
            <a:pPr marL="0" indent="0">
              <a:lnSpc>
                <a:spcPct val="120000"/>
              </a:lnSpc>
              <a:buNone/>
            </a:pPr>
            <a:r>
              <a:rPr lang="en-US" sz="1050" dirty="0">
                <a:solidFill>
                  <a:srgbClr val="5A6B78"/>
                </a:solidFill>
                <a:latin typeface="Calibri" pitchFamily="34" charset="0"/>
                <a:ea typeface="Calibri" pitchFamily="34" charset="-122"/>
                <a:cs typeface="Calibri" pitchFamily="34" charset="-120"/>
              </a:rPr>
              <a:t>of the world's population is projected to live in urban areas by 2050</a:t>
            </a:r>
            <a:endParaRPr lang="en-US" sz="1050" dirty="0"/>
          </a:p>
        </p:txBody>
      </p:sp>
      <p:sp>
        <p:nvSpPr>
          <p:cNvPr id="20" name="Shape 17"/>
          <p:cNvSpPr/>
          <p:nvPr/>
        </p:nvSpPr>
        <p:spPr>
          <a:xfrm>
            <a:off x="7360920" y="3429000"/>
            <a:ext cx="3886200" cy="0"/>
          </a:xfrm>
          <a:prstGeom prst="line">
            <a:avLst/>
          </a:prstGeom>
          <a:noFill/>
          <a:ln w="12700">
            <a:solidFill>
              <a:srgbClr val="D7E2E6"/>
            </a:solidFill>
            <a:prstDash val="solid"/>
          </a:ln>
        </p:spPr>
      </p:sp>
      <p:sp>
        <p:nvSpPr>
          <p:cNvPr id="21" name="Shape 18"/>
          <p:cNvSpPr/>
          <p:nvPr/>
        </p:nvSpPr>
        <p:spPr>
          <a:xfrm>
            <a:off x="7452360" y="3611880"/>
            <a:ext cx="777240" cy="777240"/>
          </a:xfrm>
          <a:prstGeom prst="ellipse">
            <a:avLst/>
          </a:prstGeom>
          <a:solidFill>
            <a:srgbClr val="1C7293"/>
          </a:solidFill>
          <a:ln/>
        </p:spPr>
      </p:sp>
      <p:pic>
        <p:nvPicPr>
          <p:cNvPr id="22" name="Image 1" descr="/home/claude/pptx_work/icon_leaf_FFFFFF.png"/>
          <p:cNvPicPr>
            <a:picLocks noChangeAspect="1"/>
          </p:cNvPicPr>
          <p:nvPr/>
        </p:nvPicPr>
        <p:blipFill>
          <a:blip r:embed="rId4"/>
          <a:stretch>
            <a:fillRect/>
          </a:stretch>
        </p:blipFill>
        <p:spPr>
          <a:xfrm>
            <a:off x="7627239" y="3786759"/>
            <a:ext cx="427482" cy="427482"/>
          </a:xfrm>
          <a:prstGeom prst="rect">
            <a:avLst/>
          </a:prstGeom>
        </p:spPr>
      </p:pic>
      <p:sp>
        <p:nvSpPr>
          <p:cNvPr id="23" name="Text 19"/>
          <p:cNvSpPr/>
          <p:nvPr/>
        </p:nvSpPr>
        <p:spPr>
          <a:xfrm>
            <a:off x="8366760" y="3611880"/>
            <a:ext cx="2971800" cy="32004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Sustainability goal</a:t>
            </a:r>
            <a:endParaRPr lang="en-US" sz="1300" dirty="0"/>
          </a:p>
        </p:txBody>
      </p:sp>
      <p:sp>
        <p:nvSpPr>
          <p:cNvPr id="24" name="Text 20"/>
          <p:cNvSpPr/>
          <p:nvPr/>
        </p:nvSpPr>
        <p:spPr>
          <a:xfrm>
            <a:off x="8366760" y="3931920"/>
            <a:ext cx="2971800" cy="685800"/>
          </a:xfrm>
          <a:prstGeom prst="rect">
            <a:avLst/>
          </a:prstGeom>
          <a:noFill/>
          <a:ln/>
        </p:spPr>
        <p:txBody>
          <a:bodyPr wrap="square" rtlCol="0" anchor="ctr"/>
          <a:lstStyle/>
          <a:p>
            <a:pPr marL="0" indent="0">
              <a:lnSpc>
                <a:spcPct val="120000"/>
              </a:lnSpc>
              <a:buNone/>
            </a:pPr>
            <a:r>
              <a:rPr lang="en-US" sz="1050" dirty="0">
                <a:solidFill>
                  <a:srgbClr val="5A6B78"/>
                </a:solidFill>
                <a:latin typeface="Calibri" pitchFamily="34" charset="0"/>
                <a:ea typeface="Calibri" pitchFamily="34" charset="-122"/>
                <a:cs typeface="Calibri" pitchFamily="34" charset="-120"/>
              </a:rPr>
              <a:t>Smart grids and sensing cut urban energy and water waste significantly.</a:t>
            </a:r>
            <a:endParaRPr lang="en-US" sz="1050" dirty="0"/>
          </a:p>
        </p:txBody>
      </p:sp>
      <p:sp>
        <p:nvSpPr>
          <p:cNvPr id="25" name="Shape 21"/>
          <p:cNvSpPr/>
          <p:nvPr/>
        </p:nvSpPr>
        <p:spPr>
          <a:xfrm>
            <a:off x="7360920" y="4892040"/>
            <a:ext cx="3886200" cy="0"/>
          </a:xfrm>
          <a:prstGeom prst="line">
            <a:avLst/>
          </a:prstGeom>
          <a:noFill/>
          <a:ln w="12700">
            <a:solidFill>
              <a:srgbClr val="D7E2E6"/>
            </a:solidFill>
            <a:prstDash val="solid"/>
          </a:ln>
        </p:spPr>
      </p:sp>
      <p:sp>
        <p:nvSpPr>
          <p:cNvPr id="26" name="Shape 22"/>
          <p:cNvSpPr/>
          <p:nvPr/>
        </p:nvSpPr>
        <p:spPr>
          <a:xfrm>
            <a:off x="7452360" y="5074920"/>
            <a:ext cx="777240" cy="777240"/>
          </a:xfrm>
          <a:prstGeom prst="ellipse">
            <a:avLst/>
          </a:prstGeom>
          <a:solidFill>
            <a:srgbClr val="21295C"/>
          </a:solidFill>
          <a:ln/>
        </p:spPr>
      </p:sp>
      <p:pic>
        <p:nvPicPr>
          <p:cNvPr id="27" name="Image 2" descr="/home/claude/pptx_work/icon_bulb_FFFFFF.png"/>
          <p:cNvPicPr>
            <a:picLocks noChangeAspect="1"/>
          </p:cNvPicPr>
          <p:nvPr/>
        </p:nvPicPr>
        <p:blipFill>
          <a:blip r:embed="rId5"/>
          <a:stretch>
            <a:fillRect/>
          </a:stretch>
        </p:blipFill>
        <p:spPr>
          <a:xfrm>
            <a:off x="7627239" y="5249799"/>
            <a:ext cx="427482" cy="427482"/>
          </a:xfrm>
          <a:prstGeom prst="rect">
            <a:avLst/>
          </a:prstGeom>
        </p:spPr>
      </p:pic>
      <p:sp>
        <p:nvSpPr>
          <p:cNvPr id="28" name="Text 23"/>
          <p:cNvSpPr/>
          <p:nvPr/>
        </p:nvSpPr>
        <p:spPr>
          <a:xfrm>
            <a:off x="8366760" y="5074920"/>
            <a:ext cx="2971800" cy="32004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Core idea</a:t>
            </a:r>
            <a:endParaRPr lang="en-US" sz="1300" dirty="0"/>
          </a:p>
        </p:txBody>
      </p:sp>
      <p:sp>
        <p:nvSpPr>
          <p:cNvPr id="29" name="Text 24"/>
          <p:cNvSpPr/>
          <p:nvPr/>
        </p:nvSpPr>
        <p:spPr>
          <a:xfrm>
            <a:off x="8366760" y="5394960"/>
            <a:ext cx="2971800" cy="685800"/>
          </a:xfrm>
          <a:prstGeom prst="rect">
            <a:avLst/>
          </a:prstGeom>
          <a:noFill/>
          <a:ln/>
        </p:spPr>
        <p:txBody>
          <a:bodyPr wrap="square" rtlCol="0" anchor="ctr"/>
          <a:lstStyle/>
          <a:p>
            <a:pPr marL="0" indent="0">
              <a:lnSpc>
                <a:spcPct val="120000"/>
              </a:lnSpc>
              <a:buNone/>
            </a:pPr>
            <a:r>
              <a:rPr lang="en-US" sz="1050" dirty="0">
                <a:solidFill>
                  <a:srgbClr val="5A6B78"/>
                </a:solidFill>
                <a:latin typeface="Calibri" pitchFamily="34" charset="0"/>
                <a:ea typeface="Calibri" pitchFamily="34" charset="-122"/>
                <a:cs typeface="Calibri" pitchFamily="34" charset="-120"/>
              </a:rPr>
              <a:t>Sense the city, analyze with AI, act on infrastructure — in a continuous loop.</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 cy="457200"/>
          </a:xfrm>
          <a:prstGeom prst="rect">
            <a:avLst/>
          </a:prstGeom>
          <a:noFill/>
          <a:ln/>
        </p:spPr>
        <p:txBody>
          <a:bodyPr wrap="square" rtlCol="0" anchor="ctr"/>
          <a:lstStyle/>
          <a:p>
            <a:pPr marL="0" indent="0">
              <a:buNone/>
            </a:pPr>
            <a:r>
              <a:rPr lang="en-US" sz="2000" b="1" dirty="0">
                <a:solidFill>
                  <a:srgbClr val="C7D6DD"/>
                </a:solidFill>
                <a:latin typeface="Cambria" pitchFamily="34" charset="0"/>
                <a:ea typeface="Cambria" pitchFamily="34" charset="-122"/>
                <a:cs typeface="Cambria" pitchFamily="34" charset="-120"/>
              </a:rPr>
              <a:t>02</a:t>
            </a:r>
            <a:endParaRPr lang="en-US" sz="2000" dirty="0"/>
          </a:p>
        </p:txBody>
      </p:sp>
      <p:sp>
        <p:nvSpPr>
          <p:cNvPr id="3" name="Text 1"/>
          <p:cNvSpPr/>
          <p:nvPr/>
        </p:nvSpPr>
        <p:spPr>
          <a:xfrm>
            <a:off x="640080" y="777240"/>
            <a:ext cx="10881360" cy="64008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Working Architecture &amp; Key Components</a:t>
            </a:r>
            <a:endParaRPr lang="en-US" sz="2800" dirty="0"/>
          </a:p>
        </p:txBody>
      </p:sp>
      <p:sp>
        <p:nvSpPr>
          <p:cNvPr id="4" name="Text 2"/>
          <p:cNvSpPr/>
          <p:nvPr/>
        </p:nvSpPr>
        <p:spPr>
          <a:xfrm>
            <a:off x="640080" y="1371600"/>
            <a:ext cx="9144000" cy="365760"/>
          </a:xfrm>
          <a:prstGeom prst="rect">
            <a:avLst/>
          </a:prstGeom>
          <a:noFill/>
          <a:ln/>
        </p:spPr>
        <p:txBody>
          <a:bodyPr wrap="square" rtlCol="0" anchor="ctr"/>
          <a:lstStyle/>
          <a:p>
            <a:pPr marL="0" indent="0">
              <a:buNone/>
            </a:pPr>
            <a:r>
              <a:rPr lang="en-US" sz="1300" i="1" dirty="0">
                <a:solidFill>
                  <a:srgbClr val="5A6B78"/>
                </a:solidFill>
                <a:latin typeface="Calibri" pitchFamily="34" charset="0"/>
                <a:ea typeface="Calibri" pitchFamily="34" charset="-122"/>
                <a:cs typeface="Calibri" pitchFamily="34" charset="-120"/>
              </a:rPr>
              <a:t>Data flows in four stages: sense, connect, compute, and act.</a:t>
            </a:r>
            <a:endParaRPr lang="en-US" sz="1300" dirty="0"/>
          </a:p>
        </p:txBody>
      </p:sp>
      <p:sp>
        <p:nvSpPr>
          <p:cNvPr id="5" name="Shape 3"/>
          <p:cNvSpPr/>
          <p:nvPr/>
        </p:nvSpPr>
        <p:spPr>
          <a:xfrm>
            <a:off x="640080" y="2057400"/>
            <a:ext cx="2606040" cy="3977640"/>
          </a:xfrm>
          <a:prstGeom prst="roundRect">
            <a:avLst>
              <a:gd name="adj" fmla="val 3509"/>
            </a:avLst>
          </a:prstGeom>
          <a:solidFill>
            <a:srgbClr val="F4F8FA"/>
          </a:solidFill>
          <a:ln/>
        </p:spPr>
      </p:sp>
      <p:sp>
        <p:nvSpPr>
          <p:cNvPr id="6" name="Shape 4"/>
          <p:cNvSpPr/>
          <p:nvPr/>
        </p:nvSpPr>
        <p:spPr>
          <a:xfrm>
            <a:off x="1531620" y="2377440"/>
            <a:ext cx="822960" cy="822960"/>
          </a:xfrm>
          <a:prstGeom prst="ellipse">
            <a:avLst/>
          </a:prstGeom>
          <a:solidFill>
            <a:srgbClr val="065A82"/>
          </a:solidFill>
          <a:ln/>
        </p:spPr>
      </p:sp>
      <p:pic>
        <p:nvPicPr>
          <p:cNvPr id="7" name="Image 0" descr="/home/claude/pptx_work/icon_camera_FFFFFF.png"/>
          <p:cNvPicPr>
            <a:picLocks noChangeAspect="1"/>
          </p:cNvPicPr>
          <p:nvPr/>
        </p:nvPicPr>
        <p:blipFill>
          <a:blip r:embed="rId3"/>
          <a:stretch>
            <a:fillRect/>
          </a:stretch>
        </p:blipFill>
        <p:spPr>
          <a:xfrm>
            <a:off x="1716786" y="2562606"/>
            <a:ext cx="452628" cy="452628"/>
          </a:xfrm>
          <a:prstGeom prst="rect">
            <a:avLst/>
          </a:prstGeom>
        </p:spPr>
      </p:pic>
      <p:sp>
        <p:nvSpPr>
          <p:cNvPr id="8" name="Text 5"/>
          <p:cNvSpPr/>
          <p:nvPr/>
        </p:nvSpPr>
        <p:spPr>
          <a:xfrm>
            <a:off x="777240" y="3337560"/>
            <a:ext cx="2331720" cy="365760"/>
          </a:xfrm>
          <a:prstGeom prst="rect">
            <a:avLst/>
          </a:prstGeom>
          <a:noFill/>
          <a:ln/>
        </p:spPr>
        <p:txBody>
          <a:bodyPr wrap="square"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1. Sense</a:t>
            </a:r>
            <a:endParaRPr lang="en-US" sz="1500" dirty="0"/>
          </a:p>
        </p:txBody>
      </p:sp>
      <p:sp>
        <p:nvSpPr>
          <p:cNvPr id="9" name="Text 6"/>
          <p:cNvSpPr/>
          <p:nvPr/>
        </p:nvSpPr>
        <p:spPr>
          <a:xfrm>
            <a:off x="822960" y="3749040"/>
            <a:ext cx="2240280" cy="2103120"/>
          </a:xfrm>
          <a:prstGeom prst="rect">
            <a:avLst/>
          </a:prstGeom>
          <a:noFill/>
          <a:ln/>
        </p:spPr>
        <p:txBody>
          <a:bodyPr wrap="square" rtlCol="0" anchor="t"/>
          <a:lstStyle/>
          <a:p>
            <a:pPr marL="0" indent="0" algn="ctr">
              <a:lnSpc>
                <a:spcPct val="130000"/>
              </a:lnSpc>
              <a:buNone/>
            </a:pPr>
            <a:r>
              <a:rPr lang="en-US" sz="1100" dirty="0">
                <a:solidFill>
                  <a:srgbClr val="1B2733"/>
                </a:solidFill>
                <a:latin typeface="Calibri" pitchFamily="34" charset="0"/>
                <a:ea typeface="Calibri" pitchFamily="34" charset="-122"/>
                <a:cs typeface="Calibri" pitchFamily="34" charset="-120"/>
              </a:rPr>
              <a:t>IoT sensors, cameras, and meters capture traffic, air quality, energy, and water data across the city.</a:t>
            </a:r>
            <a:endParaRPr lang="en-US" sz="1100" dirty="0"/>
          </a:p>
        </p:txBody>
      </p:sp>
      <p:sp>
        <p:nvSpPr>
          <p:cNvPr id="10" name="Text 7"/>
          <p:cNvSpPr/>
          <p:nvPr/>
        </p:nvSpPr>
        <p:spPr>
          <a:xfrm>
            <a:off x="3264408" y="3611880"/>
            <a:ext cx="219456" cy="548640"/>
          </a:xfrm>
          <a:prstGeom prst="rect">
            <a:avLst/>
          </a:prstGeom>
          <a:noFill/>
          <a:ln/>
        </p:spPr>
        <p:txBody>
          <a:bodyPr wrap="square" rtlCol="0" anchor="ctr"/>
          <a:lstStyle/>
          <a:p>
            <a:pPr marL="0" indent="0" algn="ctr">
              <a:buNone/>
            </a:pPr>
            <a:r>
              <a:rPr lang="en-US" sz="2200" b="1" dirty="0">
                <a:solidFill>
                  <a:srgbClr val="B9CBD3"/>
                </a:solidFill>
                <a:latin typeface="Arial" pitchFamily="34" charset="0"/>
                <a:ea typeface="Arial" pitchFamily="34" charset="-122"/>
                <a:cs typeface="Arial" pitchFamily="34" charset="-120"/>
              </a:rPr>
              <a:t>›</a:t>
            </a:r>
            <a:endParaRPr lang="en-US" sz="2200" dirty="0"/>
          </a:p>
        </p:txBody>
      </p:sp>
      <p:sp>
        <p:nvSpPr>
          <p:cNvPr id="11" name="Shape 8"/>
          <p:cNvSpPr/>
          <p:nvPr/>
        </p:nvSpPr>
        <p:spPr>
          <a:xfrm>
            <a:off x="3502152" y="2057400"/>
            <a:ext cx="2606040" cy="3977640"/>
          </a:xfrm>
          <a:prstGeom prst="roundRect">
            <a:avLst>
              <a:gd name="adj" fmla="val 3509"/>
            </a:avLst>
          </a:prstGeom>
          <a:solidFill>
            <a:srgbClr val="F4F8FA"/>
          </a:solidFill>
          <a:ln/>
        </p:spPr>
      </p:sp>
      <p:sp>
        <p:nvSpPr>
          <p:cNvPr id="12" name="Shape 9"/>
          <p:cNvSpPr/>
          <p:nvPr/>
        </p:nvSpPr>
        <p:spPr>
          <a:xfrm>
            <a:off x="4393692" y="2377440"/>
            <a:ext cx="822960" cy="822960"/>
          </a:xfrm>
          <a:prstGeom prst="ellipse">
            <a:avLst/>
          </a:prstGeom>
          <a:solidFill>
            <a:srgbClr val="1C7293"/>
          </a:solidFill>
          <a:ln/>
        </p:spPr>
      </p:sp>
      <p:pic>
        <p:nvPicPr>
          <p:cNvPr id="13" name="Image 1" descr="/home/claude/pptx_work/icon_satellite_FFFFFF.png"/>
          <p:cNvPicPr>
            <a:picLocks noChangeAspect="1"/>
          </p:cNvPicPr>
          <p:nvPr/>
        </p:nvPicPr>
        <p:blipFill>
          <a:blip r:embed="rId4"/>
          <a:stretch>
            <a:fillRect/>
          </a:stretch>
        </p:blipFill>
        <p:spPr>
          <a:xfrm>
            <a:off x="4578858" y="2562606"/>
            <a:ext cx="452628" cy="452628"/>
          </a:xfrm>
          <a:prstGeom prst="rect">
            <a:avLst/>
          </a:prstGeom>
        </p:spPr>
      </p:pic>
      <p:sp>
        <p:nvSpPr>
          <p:cNvPr id="14" name="Text 10"/>
          <p:cNvSpPr/>
          <p:nvPr/>
        </p:nvSpPr>
        <p:spPr>
          <a:xfrm>
            <a:off x="3639312" y="3337560"/>
            <a:ext cx="2331720" cy="365760"/>
          </a:xfrm>
          <a:prstGeom prst="rect">
            <a:avLst/>
          </a:prstGeom>
          <a:noFill/>
          <a:ln/>
        </p:spPr>
        <p:txBody>
          <a:bodyPr wrap="square"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2. Connect</a:t>
            </a:r>
            <a:endParaRPr lang="en-US" sz="1500" dirty="0"/>
          </a:p>
        </p:txBody>
      </p:sp>
      <p:sp>
        <p:nvSpPr>
          <p:cNvPr id="15" name="Text 11"/>
          <p:cNvSpPr/>
          <p:nvPr/>
        </p:nvSpPr>
        <p:spPr>
          <a:xfrm>
            <a:off x="3685032" y="3749040"/>
            <a:ext cx="2240280" cy="2103120"/>
          </a:xfrm>
          <a:prstGeom prst="rect">
            <a:avLst/>
          </a:prstGeom>
          <a:noFill/>
          <a:ln/>
        </p:spPr>
        <p:txBody>
          <a:bodyPr wrap="square" rtlCol="0" anchor="t"/>
          <a:lstStyle/>
          <a:p>
            <a:pPr marL="0" indent="0" algn="ctr">
              <a:lnSpc>
                <a:spcPct val="130000"/>
              </a:lnSpc>
              <a:buNone/>
            </a:pPr>
            <a:r>
              <a:rPr lang="en-US" sz="1100" dirty="0">
                <a:solidFill>
                  <a:srgbClr val="1B2733"/>
                </a:solidFill>
                <a:latin typeface="Calibri" pitchFamily="34" charset="0"/>
                <a:ea typeface="Calibri" pitchFamily="34" charset="-122"/>
                <a:cs typeface="Calibri" pitchFamily="34" charset="-120"/>
              </a:rPr>
              <a:t>5G/6G, LPWAN, and fiber networks stream data from field devices to edge and cloud platforms.</a:t>
            </a:r>
            <a:endParaRPr lang="en-US" sz="1100" dirty="0"/>
          </a:p>
        </p:txBody>
      </p:sp>
      <p:sp>
        <p:nvSpPr>
          <p:cNvPr id="16" name="Text 12"/>
          <p:cNvSpPr/>
          <p:nvPr/>
        </p:nvSpPr>
        <p:spPr>
          <a:xfrm>
            <a:off x="6126480" y="3611880"/>
            <a:ext cx="219456" cy="548640"/>
          </a:xfrm>
          <a:prstGeom prst="rect">
            <a:avLst/>
          </a:prstGeom>
          <a:noFill/>
          <a:ln/>
        </p:spPr>
        <p:txBody>
          <a:bodyPr wrap="square" rtlCol="0" anchor="ctr"/>
          <a:lstStyle/>
          <a:p>
            <a:pPr marL="0" indent="0" algn="ctr">
              <a:buNone/>
            </a:pPr>
            <a:r>
              <a:rPr lang="en-US" sz="2200" b="1" dirty="0">
                <a:solidFill>
                  <a:srgbClr val="B9CBD3"/>
                </a:solidFill>
                <a:latin typeface="Arial" pitchFamily="34" charset="0"/>
                <a:ea typeface="Arial" pitchFamily="34" charset="-122"/>
                <a:cs typeface="Arial" pitchFamily="34" charset="-120"/>
              </a:rPr>
              <a:t>›</a:t>
            </a:r>
            <a:endParaRPr lang="en-US" sz="2200" dirty="0"/>
          </a:p>
        </p:txBody>
      </p:sp>
      <p:sp>
        <p:nvSpPr>
          <p:cNvPr id="17" name="Shape 13"/>
          <p:cNvSpPr/>
          <p:nvPr/>
        </p:nvSpPr>
        <p:spPr>
          <a:xfrm>
            <a:off x="6364224" y="2057400"/>
            <a:ext cx="2606040" cy="3977640"/>
          </a:xfrm>
          <a:prstGeom prst="roundRect">
            <a:avLst>
              <a:gd name="adj" fmla="val 3509"/>
            </a:avLst>
          </a:prstGeom>
          <a:solidFill>
            <a:srgbClr val="F4F8FA"/>
          </a:solidFill>
          <a:ln/>
        </p:spPr>
      </p:sp>
      <p:sp>
        <p:nvSpPr>
          <p:cNvPr id="18" name="Shape 14"/>
          <p:cNvSpPr/>
          <p:nvPr/>
        </p:nvSpPr>
        <p:spPr>
          <a:xfrm>
            <a:off x="7255764" y="2377440"/>
            <a:ext cx="822960" cy="822960"/>
          </a:xfrm>
          <a:prstGeom prst="ellipse">
            <a:avLst/>
          </a:prstGeom>
          <a:solidFill>
            <a:srgbClr val="065A82"/>
          </a:solidFill>
          <a:ln/>
        </p:spPr>
      </p:sp>
      <p:pic>
        <p:nvPicPr>
          <p:cNvPr id="19" name="Image 2" descr="/home/claude/pptx_work/icon_brain_FFFFFF.png"/>
          <p:cNvPicPr>
            <a:picLocks noChangeAspect="1"/>
          </p:cNvPicPr>
          <p:nvPr/>
        </p:nvPicPr>
        <p:blipFill>
          <a:blip r:embed="rId5"/>
          <a:stretch>
            <a:fillRect/>
          </a:stretch>
        </p:blipFill>
        <p:spPr>
          <a:xfrm>
            <a:off x="7440930" y="2562606"/>
            <a:ext cx="452628" cy="452628"/>
          </a:xfrm>
          <a:prstGeom prst="rect">
            <a:avLst/>
          </a:prstGeom>
        </p:spPr>
      </p:pic>
      <p:sp>
        <p:nvSpPr>
          <p:cNvPr id="20" name="Text 15"/>
          <p:cNvSpPr/>
          <p:nvPr/>
        </p:nvSpPr>
        <p:spPr>
          <a:xfrm>
            <a:off x="6501384" y="3337560"/>
            <a:ext cx="2331720" cy="365760"/>
          </a:xfrm>
          <a:prstGeom prst="rect">
            <a:avLst/>
          </a:prstGeom>
          <a:noFill/>
          <a:ln/>
        </p:spPr>
        <p:txBody>
          <a:bodyPr wrap="square"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3. Compute</a:t>
            </a:r>
            <a:endParaRPr lang="en-US" sz="1500" dirty="0"/>
          </a:p>
        </p:txBody>
      </p:sp>
      <p:sp>
        <p:nvSpPr>
          <p:cNvPr id="21" name="Text 16"/>
          <p:cNvSpPr/>
          <p:nvPr/>
        </p:nvSpPr>
        <p:spPr>
          <a:xfrm>
            <a:off x="6547104" y="3749040"/>
            <a:ext cx="2240280" cy="2103120"/>
          </a:xfrm>
          <a:prstGeom prst="rect">
            <a:avLst/>
          </a:prstGeom>
          <a:noFill/>
          <a:ln/>
        </p:spPr>
        <p:txBody>
          <a:bodyPr wrap="square" rtlCol="0" anchor="t"/>
          <a:lstStyle/>
          <a:p>
            <a:pPr marL="0" indent="0" algn="ctr">
              <a:lnSpc>
                <a:spcPct val="130000"/>
              </a:lnSpc>
              <a:buNone/>
            </a:pPr>
            <a:r>
              <a:rPr lang="en-US" sz="1100" dirty="0">
                <a:solidFill>
                  <a:srgbClr val="1B2733"/>
                </a:solidFill>
                <a:latin typeface="Calibri" pitchFamily="34" charset="0"/>
                <a:ea typeface="Calibri" pitchFamily="34" charset="-122"/>
                <a:cs typeface="Calibri" pitchFamily="34" charset="-120"/>
              </a:rPr>
              <a:t>AI/ML models on edge and cloud analyze patterns, predict demand, and detect anomalies in real time.</a:t>
            </a:r>
            <a:endParaRPr lang="en-US" sz="1100" dirty="0"/>
          </a:p>
        </p:txBody>
      </p:sp>
      <p:sp>
        <p:nvSpPr>
          <p:cNvPr id="22" name="Text 17"/>
          <p:cNvSpPr/>
          <p:nvPr/>
        </p:nvSpPr>
        <p:spPr>
          <a:xfrm>
            <a:off x="8988552" y="3611880"/>
            <a:ext cx="219456" cy="548640"/>
          </a:xfrm>
          <a:prstGeom prst="rect">
            <a:avLst/>
          </a:prstGeom>
          <a:noFill/>
          <a:ln/>
        </p:spPr>
        <p:txBody>
          <a:bodyPr wrap="square" rtlCol="0" anchor="ctr"/>
          <a:lstStyle/>
          <a:p>
            <a:pPr marL="0" indent="0" algn="ctr">
              <a:buNone/>
            </a:pPr>
            <a:r>
              <a:rPr lang="en-US" sz="2200" b="1" dirty="0">
                <a:solidFill>
                  <a:srgbClr val="B9CBD3"/>
                </a:solidFill>
                <a:latin typeface="Arial" pitchFamily="34" charset="0"/>
                <a:ea typeface="Arial" pitchFamily="34" charset="-122"/>
                <a:cs typeface="Arial" pitchFamily="34" charset="-120"/>
              </a:rPr>
              <a:t>›</a:t>
            </a:r>
            <a:endParaRPr lang="en-US" sz="2200" dirty="0"/>
          </a:p>
        </p:txBody>
      </p:sp>
      <p:sp>
        <p:nvSpPr>
          <p:cNvPr id="23" name="Shape 18"/>
          <p:cNvSpPr/>
          <p:nvPr/>
        </p:nvSpPr>
        <p:spPr>
          <a:xfrm>
            <a:off x="9226296" y="2057400"/>
            <a:ext cx="2606040" cy="3977640"/>
          </a:xfrm>
          <a:prstGeom prst="roundRect">
            <a:avLst>
              <a:gd name="adj" fmla="val 3509"/>
            </a:avLst>
          </a:prstGeom>
          <a:solidFill>
            <a:srgbClr val="F4F8FA"/>
          </a:solidFill>
          <a:ln/>
        </p:spPr>
      </p:sp>
      <p:sp>
        <p:nvSpPr>
          <p:cNvPr id="24" name="Shape 19"/>
          <p:cNvSpPr/>
          <p:nvPr/>
        </p:nvSpPr>
        <p:spPr>
          <a:xfrm>
            <a:off x="10117836" y="2377440"/>
            <a:ext cx="822960" cy="822960"/>
          </a:xfrm>
          <a:prstGeom prst="ellipse">
            <a:avLst/>
          </a:prstGeom>
          <a:solidFill>
            <a:srgbClr val="1C7293"/>
          </a:solidFill>
          <a:ln/>
        </p:spPr>
      </p:sp>
      <p:pic>
        <p:nvPicPr>
          <p:cNvPr id="25" name="Image 3" descr="/home/claude/pptx_work/icon_cogs_FFFFFF.png"/>
          <p:cNvPicPr>
            <a:picLocks noChangeAspect="1"/>
          </p:cNvPicPr>
          <p:nvPr/>
        </p:nvPicPr>
        <p:blipFill>
          <a:blip r:embed="rId6"/>
          <a:stretch>
            <a:fillRect/>
          </a:stretch>
        </p:blipFill>
        <p:spPr>
          <a:xfrm>
            <a:off x="10303002" y="2562606"/>
            <a:ext cx="452628" cy="452628"/>
          </a:xfrm>
          <a:prstGeom prst="rect">
            <a:avLst/>
          </a:prstGeom>
        </p:spPr>
      </p:pic>
      <p:sp>
        <p:nvSpPr>
          <p:cNvPr id="26" name="Text 20"/>
          <p:cNvSpPr/>
          <p:nvPr/>
        </p:nvSpPr>
        <p:spPr>
          <a:xfrm>
            <a:off x="9363456" y="3337560"/>
            <a:ext cx="2331720" cy="365760"/>
          </a:xfrm>
          <a:prstGeom prst="rect">
            <a:avLst/>
          </a:prstGeom>
          <a:noFill/>
          <a:ln/>
        </p:spPr>
        <p:txBody>
          <a:bodyPr wrap="square"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4. Act</a:t>
            </a:r>
            <a:endParaRPr lang="en-US" sz="1500" dirty="0"/>
          </a:p>
        </p:txBody>
      </p:sp>
      <p:sp>
        <p:nvSpPr>
          <p:cNvPr id="27" name="Text 21"/>
          <p:cNvSpPr/>
          <p:nvPr/>
        </p:nvSpPr>
        <p:spPr>
          <a:xfrm>
            <a:off x="9409176" y="3749040"/>
            <a:ext cx="2240280" cy="2103120"/>
          </a:xfrm>
          <a:prstGeom prst="rect">
            <a:avLst/>
          </a:prstGeom>
          <a:noFill/>
          <a:ln/>
        </p:spPr>
        <p:txBody>
          <a:bodyPr wrap="square" rtlCol="0" anchor="t"/>
          <a:lstStyle/>
          <a:p>
            <a:pPr marL="0" indent="0" algn="ctr">
              <a:lnSpc>
                <a:spcPct val="130000"/>
              </a:lnSpc>
              <a:buNone/>
            </a:pPr>
            <a:r>
              <a:rPr lang="en-US" sz="1100" dirty="0">
                <a:solidFill>
                  <a:srgbClr val="1B2733"/>
                </a:solidFill>
                <a:latin typeface="Calibri" pitchFamily="34" charset="0"/>
                <a:ea typeface="Calibri" pitchFamily="34" charset="-122"/>
                <a:cs typeface="Calibri" pitchFamily="34" charset="-120"/>
              </a:rPr>
              <a:t>Automated systems adjust traffic signals, power grids, and alerts — closing the feedback loop.</a:t>
            </a:r>
            <a:endParaRPr lang="en-US" sz="1100" dirty="0"/>
          </a:p>
        </p:txBody>
      </p:sp>
      <p:sp>
        <p:nvSpPr>
          <p:cNvPr id="28" name="Text 22"/>
          <p:cNvSpPr/>
          <p:nvPr/>
        </p:nvSpPr>
        <p:spPr>
          <a:xfrm>
            <a:off x="640080" y="6172200"/>
            <a:ext cx="10881360" cy="457200"/>
          </a:xfrm>
          <a:prstGeom prst="rect">
            <a:avLst/>
          </a:prstGeom>
          <a:noFill/>
          <a:ln/>
        </p:spPr>
        <p:txBody>
          <a:bodyPr wrap="square" rtlCol="0" anchor="ctr"/>
          <a:lstStyle/>
          <a:p>
            <a:pPr marL="0" indent="0">
              <a:buNone/>
            </a:pPr>
            <a:r>
              <a:rPr lang="en-US" sz="1050" i="1" dirty="0">
                <a:solidFill>
                  <a:srgbClr val="5A6B78"/>
                </a:solidFill>
                <a:latin typeface="Calibri" pitchFamily="34" charset="0"/>
                <a:ea typeface="Calibri" pitchFamily="34" charset="-122"/>
                <a:cs typeface="Calibri" pitchFamily="34" charset="-120"/>
              </a:rPr>
              <a:t>Key enabling technologies: IoT sensor networks  •  Edge &amp; cloud computing  •  Machine learning / deep learning  •  5G/6G connectivity  •  GIS &amp; digital twin platforms  •  Cybersecurity layers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 cy="457200"/>
          </a:xfrm>
          <a:prstGeom prst="rect">
            <a:avLst/>
          </a:prstGeom>
          <a:noFill/>
          <a:ln/>
        </p:spPr>
        <p:txBody>
          <a:bodyPr wrap="square" rtlCol="0" anchor="ctr"/>
          <a:lstStyle/>
          <a:p>
            <a:pPr marL="0" indent="0">
              <a:buNone/>
            </a:pPr>
            <a:r>
              <a:rPr lang="en-US" sz="2000" b="1" dirty="0">
                <a:solidFill>
                  <a:srgbClr val="C7D6DD"/>
                </a:solidFill>
                <a:latin typeface="Cambria" pitchFamily="34" charset="0"/>
                <a:ea typeface="Cambria" pitchFamily="34" charset="-122"/>
                <a:cs typeface="Cambria" pitchFamily="34" charset="-120"/>
              </a:rPr>
              <a:t>03</a:t>
            </a:r>
            <a:endParaRPr lang="en-US" sz="2000" dirty="0"/>
          </a:p>
        </p:txBody>
      </p:sp>
      <p:sp>
        <p:nvSpPr>
          <p:cNvPr id="3" name="Text 1"/>
          <p:cNvSpPr/>
          <p:nvPr/>
        </p:nvSpPr>
        <p:spPr>
          <a:xfrm>
            <a:off x="640080" y="777240"/>
            <a:ext cx="10881360" cy="64008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Applications, Advantages &amp; Limitations</a:t>
            </a:r>
            <a:endParaRPr lang="en-US" sz="2800" dirty="0"/>
          </a:p>
        </p:txBody>
      </p:sp>
      <p:sp>
        <p:nvSpPr>
          <p:cNvPr id="4" name="Text 2"/>
          <p:cNvSpPr/>
          <p:nvPr/>
        </p:nvSpPr>
        <p:spPr>
          <a:xfrm>
            <a:off x="640080" y="1600200"/>
            <a:ext cx="5486400" cy="365760"/>
          </a:xfrm>
          <a:prstGeom prst="rect">
            <a:avLst/>
          </a:prstGeom>
          <a:noFill/>
          <a:ln/>
        </p:spPr>
        <p:txBody>
          <a:bodyPr wrap="square"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Real-World Applications</a:t>
            </a:r>
            <a:endParaRPr lang="en-US" sz="1500" dirty="0"/>
          </a:p>
        </p:txBody>
      </p:sp>
      <p:sp>
        <p:nvSpPr>
          <p:cNvPr id="5" name="Shape 3"/>
          <p:cNvSpPr/>
          <p:nvPr/>
        </p:nvSpPr>
        <p:spPr>
          <a:xfrm>
            <a:off x="640080" y="2057400"/>
            <a:ext cx="502920" cy="502920"/>
          </a:xfrm>
          <a:prstGeom prst="ellipse">
            <a:avLst/>
          </a:prstGeom>
          <a:solidFill>
            <a:srgbClr val="065A82"/>
          </a:solidFill>
          <a:ln/>
        </p:spPr>
      </p:sp>
      <p:pic>
        <p:nvPicPr>
          <p:cNvPr id="6" name="Image 0" descr="/home/claude/pptx_work/icon_traffic_FFFFFF.png"/>
          <p:cNvPicPr>
            <a:picLocks noChangeAspect="1"/>
          </p:cNvPicPr>
          <p:nvPr/>
        </p:nvPicPr>
        <p:blipFill>
          <a:blip r:embed="rId3"/>
          <a:stretch>
            <a:fillRect/>
          </a:stretch>
        </p:blipFill>
        <p:spPr>
          <a:xfrm>
            <a:off x="753237" y="2170557"/>
            <a:ext cx="276606" cy="276606"/>
          </a:xfrm>
          <a:prstGeom prst="rect">
            <a:avLst/>
          </a:prstGeom>
        </p:spPr>
      </p:pic>
      <p:sp>
        <p:nvSpPr>
          <p:cNvPr id="7" name="Text 4"/>
          <p:cNvSpPr/>
          <p:nvPr/>
        </p:nvSpPr>
        <p:spPr>
          <a:xfrm>
            <a:off x="1325880" y="2075688"/>
            <a:ext cx="4892040" cy="457200"/>
          </a:xfrm>
          <a:prstGeom prst="rect">
            <a:avLst/>
          </a:prstGeom>
          <a:noFill/>
          <a:ln/>
        </p:spPr>
        <p:txBody>
          <a:bodyPr wrap="square" rtlCol="0" anchor="ctr"/>
          <a:lstStyle/>
          <a:p>
            <a:pPr marL="0" indent="0">
              <a:buNone/>
            </a:pPr>
            <a:r>
              <a:rPr lang="en-US" sz="1200" dirty="0">
                <a:solidFill>
                  <a:srgbClr val="1B2733"/>
                </a:solidFill>
                <a:latin typeface="Calibri" pitchFamily="34" charset="0"/>
                <a:ea typeface="Calibri" pitchFamily="34" charset="-122"/>
                <a:cs typeface="Calibri" pitchFamily="34" charset="-120"/>
              </a:rPr>
              <a:t>Adaptive traffic signals &amp; congestion routing</a:t>
            </a:r>
            <a:endParaRPr lang="en-US" sz="1200" dirty="0"/>
          </a:p>
        </p:txBody>
      </p:sp>
      <p:sp>
        <p:nvSpPr>
          <p:cNvPr id="8" name="Shape 5"/>
          <p:cNvSpPr/>
          <p:nvPr/>
        </p:nvSpPr>
        <p:spPr>
          <a:xfrm>
            <a:off x="640080" y="2770632"/>
            <a:ext cx="502920" cy="502920"/>
          </a:xfrm>
          <a:prstGeom prst="ellipse">
            <a:avLst/>
          </a:prstGeom>
          <a:solidFill>
            <a:srgbClr val="1C7293"/>
          </a:solidFill>
          <a:ln/>
        </p:spPr>
      </p:sp>
      <p:pic>
        <p:nvPicPr>
          <p:cNvPr id="9" name="Image 1" descr="/home/claude/pptx_work/icon_bolt_FFFFFF.png"/>
          <p:cNvPicPr>
            <a:picLocks noChangeAspect="1"/>
          </p:cNvPicPr>
          <p:nvPr/>
        </p:nvPicPr>
        <p:blipFill>
          <a:blip r:embed="rId4"/>
          <a:stretch>
            <a:fillRect/>
          </a:stretch>
        </p:blipFill>
        <p:spPr>
          <a:xfrm>
            <a:off x="753237" y="2883789"/>
            <a:ext cx="276606" cy="276606"/>
          </a:xfrm>
          <a:prstGeom prst="rect">
            <a:avLst/>
          </a:prstGeom>
        </p:spPr>
      </p:pic>
      <p:sp>
        <p:nvSpPr>
          <p:cNvPr id="10" name="Text 6"/>
          <p:cNvSpPr/>
          <p:nvPr/>
        </p:nvSpPr>
        <p:spPr>
          <a:xfrm>
            <a:off x="1325880" y="2788920"/>
            <a:ext cx="4892040" cy="457200"/>
          </a:xfrm>
          <a:prstGeom prst="rect">
            <a:avLst/>
          </a:prstGeom>
          <a:noFill/>
          <a:ln/>
        </p:spPr>
        <p:txBody>
          <a:bodyPr wrap="square" rtlCol="0" anchor="ctr"/>
          <a:lstStyle/>
          <a:p>
            <a:pPr marL="0" indent="0">
              <a:buNone/>
            </a:pPr>
            <a:r>
              <a:rPr lang="en-US" sz="1200" dirty="0">
                <a:solidFill>
                  <a:srgbClr val="1B2733"/>
                </a:solidFill>
                <a:latin typeface="Calibri" pitchFamily="34" charset="0"/>
                <a:ea typeface="Calibri" pitchFamily="34" charset="-122"/>
                <a:cs typeface="Calibri" pitchFamily="34" charset="-120"/>
              </a:rPr>
              <a:t>Smart grids for real-time energy balancing</a:t>
            </a:r>
            <a:endParaRPr lang="en-US" sz="1200" dirty="0"/>
          </a:p>
        </p:txBody>
      </p:sp>
      <p:sp>
        <p:nvSpPr>
          <p:cNvPr id="11" name="Shape 7"/>
          <p:cNvSpPr/>
          <p:nvPr/>
        </p:nvSpPr>
        <p:spPr>
          <a:xfrm>
            <a:off x="640080" y="3483864"/>
            <a:ext cx="502920" cy="502920"/>
          </a:xfrm>
          <a:prstGeom prst="ellipse">
            <a:avLst/>
          </a:prstGeom>
          <a:solidFill>
            <a:srgbClr val="065A82"/>
          </a:solidFill>
          <a:ln/>
        </p:spPr>
      </p:sp>
      <p:pic>
        <p:nvPicPr>
          <p:cNvPr id="12" name="Image 2" descr="/home/claude/pptx_work/icon_water_FFFFFF.png"/>
          <p:cNvPicPr>
            <a:picLocks noChangeAspect="1"/>
          </p:cNvPicPr>
          <p:nvPr/>
        </p:nvPicPr>
        <p:blipFill>
          <a:blip r:embed="rId5"/>
          <a:stretch>
            <a:fillRect/>
          </a:stretch>
        </p:blipFill>
        <p:spPr>
          <a:xfrm>
            <a:off x="753237" y="3597021"/>
            <a:ext cx="276606" cy="276606"/>
          </a:xfrm>
          <a:prstGeom prst="rect">
            <a:avLst/>
          </a:prstGeom>
        </p:spPr>
      </p:pic>
      <p:sp>
        <p:nvSpPr>
          <p:cNvPr id="13" name="Text 8"/>
          <p:cNvSpPr/>
          <p:nvPr/>
        </p:nvSpPr>
        <p:spPr>
          <a:xfrm>
            <a:off x="1325880" y="3502152"/>
            <a:ext cx="4892040" cy="457200"/>
          </a:xfrm>
          <a:prstGeom prst="rect">
            <a:avLst/>
          </a:prstGeom>
          <a:noFill/>
          <a:ln/>
        </p:spPr>
        <p:txBody>
          <a:bodyPr wrap="square" rtlCol="0" anchor="ctr"/>
          <a:lstStyle/>
          <a:p>
            <a:pPr marL="0" indent="0">
              <a:buNone/>
            </a:pPr>
            <a:r>
              <a:rPr lang="en-US" sz="1200" dirty="0">
                <a:solidFill>
                  <a:srgbClr val="1B2733"/>
                </a:solidFill>
                <a:latin typeface="Calibri" pitchFamily="34" charset="0"/>
                <a:ea typeface="Calibri" pitchFamily="34" charset="-122"/>
                <a:cs typeface="Calibri" pitchFamily="34" charset="-120"/>
              </a:rPr>
              <a:t>Smart water metering &amp; leak detection</a:t>
            </a:r>
            <a:endParaRPr lang="en-US" sz="1200" dirty="0"/>
          </a:p>
        </p:txBody>
      </p:sp>
      <p:sp>
        <p:nvSpPr>
          <p:cNvPr id="14" name="Shape 9"/>
          <p:cNvSpPr/>
          <p:nvPr/>
        </p:nvSpPr>
        <p:spPr>
          <a:xfrm>
            <a:off x="640080" y="4197096"/>
            <a:ext cx="502920" cy="502920"/>
          </a:xfrm>
          <a:prstGeom prst="ellipse">
            <a:avLst/>
          </a:prstGeom>
          <a:solidFill>
            <a:srgbClr val="1C7293"/>
          </a:solidFill>
          <a:ln/>
        </p:spPr>
      </p:sp>
      <p:pic>
        <p:nvPicPr>
          <p:cNvPr id="15" name="Image 3" descr="/home/claude/pptx_work/icon_recycle_FFFFFF.png"/>
          <p:cNvPicPr>
            <a:picLocks noChangeAspect="1"/>
          </p:cNvPicPr>
          <p:nvPr/>
        </p:nvPicPr>
        <p:blipFill>
          <a:blip r:embed="rId6"/>
          <a:stretch>
            <a:fillRect/>
          </a:stretch>
        </p:blipFill>
        <p:spPr>
          <a:xfrm>
            <a:off x="753237" y="4310253"/>
            <a:ext cx="276606" cy="276606"/>
          </a:xfrm>
          <a:prstGeom prst="rect">
            <a:avLst/>
          </a:prstGeom>
        </p:spPr>
      </p:pic>
      <p:sp>
        <p:nvSpPr>
          <p:cNvPr id="16" name="Text 10"/>
          <p:cNvSpPr/>
          <p:nvPr/>
        </p:nvSpPr>
        <p:spPr>
          <a:xfrm>
            <a:off x="1325880" y="4215384"/>
            <a:ext cx="4892040" cy="457200"/>
          </a:xfrm>
          <a:prstGeom prst="rect">
            <a:avLst/>
          </a:prstGeom>
          <a:noFill/>
          <a:ln/>
        </p:spPr>
        <p:txBody>
          <a:bodyPr wrap="square" rtlCol="0" anchor="ctr"/>
          <a:lstStyle/>
          <a:p>
            <a:pPr marL="0" indent="0">
              <a:buNone/>
            </a:pPr>
            <a:r>
              <a:rPr lang="en-US" sz="1200" dirty="0">
                <a:solidFill>
                  <a:srgbClr val="1B2733"/>
                </a:solidFill>
                <a:latin typeface="Calibri" pitchFamily="34" charset="0"/>
                <a:ea typeface="Calibri" pitchFamily="34" charset="-122"/>
                <a:cs typeface="Calibri" pitchFamily="34" charset="-120"/>
              </a:rPr>
              <a:t>AI-optimized waste collection routes</a:t>
            </a:r>
            <a:endParaRPr lang="en-US" sz="1200" dirty="0"/>
          </a:p>
        </p:txBody>
      </p:sp>
      <p:sp>
        <p:nvSpPr>
          <p:cNvPr id="17" name="Shape 11"/>
          <p:cNvSpPr/>
          <p:nvPr/>
        </p:nvSpPr>
        <p:spPr>
          <a:xfrm>
            <a:off x="640080" y="4910328"/>
            <a:ext cx="502920" cy="502920"/>
          </a:xfrm>
          <a:prstGeom prst="ellipse">
            <a:avLst/>
          </a:prstGeom>
          <a:solidFill>
            <a:srgbClr val="065A82"/>
          </a:solidFill>
          <a:ln/>
        </p:spPr>
      </p:sp>
      <p:pic>
        <p:nvPicPr>
          <p:cNvPr id="18" name="Image 4" descr="/home/claude/pptx_work/icon_shield_FFFFFF.png"/>
          <p:cNvPicPr>
            <a:picLocks noChangeAspect="1"/>
          </p:cNvPicPr>
          <p:nvPr/>
        </p:nvPicPr>
        <p:blipFill>
          <a:blip r:embed="rId7"/>
          <a:stretch>
            <a:fillRect/>
          </a:stretch>
        </p:blipFill>
        <p:spPr>
          <a:xfrm>
            <a:off x="753237" y="5023485"/>
            <a:ext cx="276606" cy="276606"/>
          </a:xfrm>
          <a:prstGeom prst="rect">
            <a:avLst/>
          </a:prstGeom>
        </p:spPr>
      </p:pic>
      <p:sp>
        <p:nvSpPr>
          <p:cNvPr id="19" name="Text 12"/>
          <p:cNvSpPr/>
          <p:nvPr/>
        </p:nvSpPr>
        <p:spPr>
          <a:xfrm>
            <a:off x="1325880" y="4928616"/>
            <a:ext cx="4892040" cy="457200"/>
          </a:xfrm>
          <a:prstGeom prst="rect">
            <a:avLst/>
          </a:prstGeom>
          <a:noFill/>
          <a:ln/>
        </p:spPr>
        <p:txBody>
          <a:bodyPr wrap="square" rtlCol="0" anchor="ctr"/>
          <a:lstStyle/>
          <a:p>
            <a:pPr marL="0" indent="0">
              <a:buNone/>
            </a:pPr>
            <a:r>
              <a:rPr lang="en-US" sz="1200" dirty="0">
                <a:solidFill>
                  <a:srgbClr val="1B2733"/>
                </a:solidFill>
                <a:latin typeface="Calibri" pitchFamily="34" charset="0"/>
                <a:ea typeface="Calibri" pitchFamily="34" charset="-122"/>
                <a:cs typeface="Calibri" pitchFamily="34" charset="-120"/>
              </a:rPr>
              <a:t>Public safety analytics &amp; emergency response</a:t>
            </a:r>
            <a:endParaRPr lang="en-US" sz="1200" dirty="0"/>
          </a:p>
        </p:txBody>
      </p:sp>
      <p:sp>
        <p:nvSpPr>
          <p:cNvPr id="20" name="Shape 13"/>
          <p:cNvSpPr/>
          <p:nvPr/>
        </p:nvSpPr>
        <p:spPr>
          <a:xfrm>
            <a:off x="6720840" y="1600200"/>
            <a:ext cx="4800600" cy="2148840"/>
          </a:xfrm>
          <a:prstGeom prst="roundRect">
            <a:avLst>
              <a:gd name="adj" fmla="val 4255"/>
            </a:avLst>
          </a:prstGeom>
          <a:solidFill>
            <a:srgbClr val="EAF4EE"/>
          </a:solidFill>
          <a:ln/>
        </p:spPr>
      </p:sp>
      <p:sp>
        <p:nvSpPr>
          <p:cNvPr id="21" name="Shape 14"/>
          <p:cNvSpPr/>
          <p:nvPr/>
        </p:nvSpPr>
        <p:spPr>
          <a:xfrm>
            <a:off x="6949440" y="1828800"/>
            <a:ext cx="548640" cy="548640"/>
          </a:xfrm>
          <a:prstGeom prst="ellipse">
            <a:avLst/>
          </a:prstGeom>
          <a:solidFill>
            <a:srgbClr val="2E7D5B"/>
          </a:solidFill>
          <a:ln/>
        </p:spPr>
      </p:sp>
      <p:pic>
        <p:nvPicPr>
          <p:cNvPr id="22" name="Image 5" descr="/home/claude/pptx_work/icon_check_FFFFFF.png"/>
          <p:cNvPicPr>
            <a:picLocks noChangeAspect="1"/>
          </p:cNvPicPr>
          <p:nvPr/>
        </p:nvPicPr>
        <p:blipFill>
          <a:blip r:embed="rId8"/>
          <a:stretch>
            <a:fillRect/>
          </a:stretch>
        </p:blipFill>
        <p:spPr>
          <a:xfrm>
            <a:off x="7072884" y="1952244"/>
            <a:ext cx="301752" cy="301752"/>
          </a:xfrm>
          <a:prstGeom prst="rect">
            <a:avLst/>
          </a:prstGeom>
        </p:spPr>
      </p:pic>
      <p:sp>
        <p:nvSpPr>
          <p:cNvPr id="23" name="Text 15"/>
          <p:cNvSpPr/>
          <p:nvPr/>
        </p:nvSpPr>
        <p:spPr>
          <a:xfrm>
            <a:off x="7635240" y="1828800"/>
            <a:ext cx="3657600" cy="365760"/>
          </a:xfrm>
          <a:prstGeom prst="rect">
            <a:avLst/>
          </a:prstGeom>
          <a:noFill/>
          <a:ln/>
        </p:spPr>
        <p:txBody>
          <a:bodyPr wrap="square" rtlCol="0" anchor="ctr"/>
          <a:lstStyle/>
          <a:p>
            <a:pPr marL="0" indent="0">
              <a:buNone/>
            </a:pPr>
            <a:r>
              <a:rPr lang="en-US" sz="1400" b="1" dirty="0">
                <a:solidFill>
                  <a:srgbClr val="1E5A3D"/>
                </a:solidFill>
                <a:latin typeface="Calibri" pitchFamily="34" charset="0"/>
                <a:ea typeface="Calibri" pitchFamily="34" charset="-122"/>
                <a:cs typeface="Calibri" pitchFamily="34" charset="-120"/>
              </a:rPr>
              <a:t>Advantages</a:t>
            </a:r>
            <a:endParaRPr lang="en-US" sz="1400" dirty="0"/>
          </a:p>
        </p:txBody>
      </p:sp>
      <p:sp>
        <p:nvSpPr>
          <p:cNvPr id="24" name="Text 16"/>
          <p:cNvSpPr/>
          <p:nvPr/>
        </p:nvSpPr>
        <p:spPr>
          <a:xfrm>
            <a:off x="6949440" y="2423160"/>
            <a:ext cx="4343400" cy="1280160"/>
          </a:xfrm>
          <a:prstGeom prst="rect">
            <a:avLst/>
          </a:prstGeom>
          <a:noFill/>
          <a:ln/>
        </p:spPr>
        <p:txBody>
          <a:bodyPr wrap="square" rtlCol="0" anchor="ctr"/>
          <a:lstStyle/>
          <a:p>
            <a:pPr marL="0" indent="0">
              <a:lnSpc>
                <a:spcPct val="135000"/>
              </a:lnSpc>
              <a:buNone/>
            </a:pPr>
            <a:r>
              <a:rPr lang="en-US" sz="1150" dirty="0">
                <a:solidFill>
                  <a:srgbClr val="244B39"/>
                </a:solidFill>
                <a:latin typeface="Calibri" pitchFamily="34" charset="0"/>
                <a:ea typeface="Calibri" pitchFamily="34" charset="-122"/>
                <a:cs typeface="Calibri" pitchFamily="34" charset="-120"/>
              </a:rPr>
              <a:t>• Lower energy &amp; resource waste</a:t>
            </a:r>
            <a:endParaRPr lang="en-US" sz="1150" dirty="0"/>
          </a:p>
          <a:p>
            <a:pPr marL="0" indent="0">
              <a:lnSpc>
                <a:spcPct val="135000"/>
              </a:lnSpc>
              <a:buNone/>
            </a:pPr>
            <a:r>
              <a:rPr lang="en-US" sz="1150" dirty="0">
                <a:solidFill>
                  <a:srgbClr val="244B39"/>
                </a:solidFill>
                <a:latin typeface="Calibri" pitchFamily="34" charset="0"/>
                <a:ea typeface="Calibri" pitchFamily="34" charset="-122"/>
                <a:cs typeface="Calibri" pitchFamily="34" charset="-120"/>
              </a:rPr>
              <a:t>• Faster, data-driven governance</a:t>
            </a:r>
            <a:endParaRPr lang="en-US" sz="1150" dirty="0"/>
          </a:p>
          <a:p>
            <a:pPr marL="0" indent="0">
              <a:lnSpc>
                <a:spcPct val="135000"/>
              </a:lnSpc>
              <a:buNone/>
            </a:pPr>
            <a:r>
              <a:rPr lang="en-US" sz="1150" dirty="0">
                <a:solidFill>
                  <a:srgbClr val="244B39"/>
                </a:solidFill>
                <a:latin typeface="Calibri" pitchFamily="34" charset="0"/>
                <a:ea typeface="Calibri" pitchFamily="34" charset="-122"/>
                <a:cs typeface="Calibri" pitchFamily="34" charset="-120"/>
              </a:rPr>
              <a:t>• Reduced congestion and emissions</a:t>
            </a:r>
            <a:endParaRPr lang="en-US" sz="1150" dirty="0"/>
          </a:p>
          <a:p>
            <a:pPr marL="0" indent="0">
              <a:lnSpc>
                <a:spcPct val="135000"/>
              </a:lnSpc>
              <a:buNone/>
            </a:pPr>
            <a:r>
              <a:rPr lang="en-US" sz="1150" dirty="0">
                <a:solidFill>
                  <a:srgbClr val="244B39"/>
                </a:solidFill>
                <a:latin typeface="Calibri" pitchFamily="34" charset="0"/>
                <a:ea typeface="Calibri" pitchFamily="34" charset="-122"/>
                <a:cs typeface="Calibri" pitchFamily="34" charset="-120"/>
              </a:rPr>
              <a:t>• Improved citizen safety &amp; services</a:t>
            </a:r>
            <a:endParaRPr lang="en-US" sz="1150" dirty="0"/>
          </a:p>
        </p:txBody>
      </p:sp>
      <p:sp>
        <p:nvSpPr>
          <p:cNvPr id="25" name="Shape 17"/>
          <p:cNvSpPr/>
          <p:nvPr/>
        </p:nvSpPr>
        <p:spPr>
          <a:xfrm>
            <a:off x="6720840" y="3886200"/>
            <a:ext cx="4800600" cy="2148840"/>
          </a:xfrm>
          <a:prstGeom prst="roundRect">
            <a:avLst>
              <a:gd name="adj" fmla="val 4255"/>
            </a:avLst>
          </a:prstGeom>
          <a:solidFill>
            <a:srgbClr val="FBEDEC"/>
          </a:solidFill>
          <a:ln/>
        </p:spPr>
      </p:sp>
      <p:sp>
        <p:nvSpPr>
          <p:cNvPr id="26" name="Shape 18"/>
          <p:cNvSpPr/>
          <p:nvPr/>
        </p:nvSpPr>
        <p:spPr>
          <a:xfrm>
            <a:off x="6949440" y="4114800"/>
            <a:ext cx="548640" cy="548640"/>
          </a:xfrm>
          <a:prstGeom prst="ellipse">
            <a:avLst/>
          </a:prstGeom>
          <a:solidFill>
            <a:srgbClr val="A33A2E"/>
          </a:solidFill>
          <a:ln/>
        </p:spPr>
      </p:sp>
      <p:pic>
        <p:nvPicPr>
          <p:cNvPr id="27" name="Image 6" descr="/home/claude/pptx_work/icon_warning_FFFFFF.png"/>
          <p:cNvPicPr>
            <a:picLocks noChangeAspect="1"/>
          </p:cNvPicPr>
          <p:nvPr/>
        </p:nvPicPr>
        <p:blipFill>
          <a:blip r:embed="rId9"/>
          <a:stretch>
            <a:fillRect/>
          </a:stretch>
        </p:blipFill>
        <p:spPr>
          <a:xfrm>
            <a:off x="7072884" y="4238244"/>
            <a:ext cx="301752" cy="301752"/>
          </a:xfrm>
          <a:prstGeom prst="rect">
            <a:avLst/>
          </a:prstGeom>
        </p:spPr>
      </p:pic>
      <p:sp>
        <p:nvSpPr>
          <p:cNvPr id="28" name="Text 19"/>
          <p:cNvSpPr/>
          <p:nvPr/>
        </p:nvSpPr>
        <p:spPr>
          <a:xfrm>
            <a:off x="7635240" y="4114800"/>
            <a:ext cx="3657600" cy="365760"/>
          </a:xfrm>
          <a:prstGeom prst="rect">
            <a:avLst/>
          </a:prstGeom>
          <a:noFill/>
          <a:ln/>
        </p:spPr>
        <p:txBody>
          <a:bodyPr wrap="square" rtlCol="0" anchor="ctr"/>
          <a:lstStyle/>
          <a:p>
            <a:pPr marL="0" indent="0">
              <a:buNone/>
            </a:pPr>
            <a:r>
              <a:rPr lang="en-US" sz="1400" b="1" dirty="0">
                <a:solidFill>
                  <a:srgbClr val="8C3226"/>
                </a:solidFill>
                <a:latin typeface="Calibri" pitchFamily="34" charset="0"/>
                <a:ea typeface="Calibri" pitchFamily="34" charset="-122"/>
                <a:cs typeface="Calibri" pitchFamily="34" charset="-120"/>
              </a:rPr>
              <a:t>Limitations</a:t>
            </a:r>
            <a:endParaRPr lang="en-US" sz="1400" dirty="0"/>
          </a:p>
        </p:txBody>
      </p:sp>
      <p:sp>
        <p:nvSpPr>
          <p:cNvPr id="29" name="Text 20"/>
          <p:cNvSpPr/>
          <p:nvPr/>
        </p:nvSpPr>
        <p:spPr>
          <a:xfrm>
            <a:off x="6949440" y="4709160"/>
            <a:ext cx="4343400" cy="1280160"/>
          </a:xfrm>
          <a:prstGeom prst="rect">
            <a:avLst/>
          </a:prstGeom>
          <a:noFill/>
          <a:ln/>
        </p:spPr>
        <p:txBody>
          <a:bodyPr wrap="square" rtlCol="0" anchor="ctr"/>
          <a:lstStyle/>
          <a:p>
            <a:pPr marL="0" indent="0">
              <a:lnSpc>
                <a:spcPct val="135000"/>
              </a:lnSpc>
              <a:buNone/>
            </a:pPr>
            <a:r>
              <a:rPr lang="en-US" sz="1150" dirty="0">
                <a:solidFill>
                  <a:srgbClr val="6B2A21"/>
                </a:solidFill>
                <a:latin typeface="Calibri" pitchFamily="34" charset="0"/>
                <a:ea typeface="Calibri" pitchFamily="34" charset="-122"/>
                <a:cs typeface="Calibri" pitchFamily="34" charset="-120"/>
              </a:rPr>
              <a:t>• High upfront infrastructure cost</a:t>
            </a:r>
            <a:endParaRPr lang="en-US" sz="1150" dirty="0"/>
          </a:p>
          <a:p>
            <a:pPr marL="0" indent="0">
              <a:lnSpc>
                <a:spcPct val="135000"/>
              </a:lnSpc>
              <a:buNone/>
            </a:pPr>
            <a:r>
              <a:rPr lang="en-US" sz="1150" dirty="0">
                <a:solidFill>
                  <a:srgbClr val="6B2A21"/>
                </a:solidFill>
                <a:latin typeface="Calibri" pitchFamily="34" charset="0"/>
                <a:ea typeface="Calibri" pitchFamily="34" charset="-122"/>
                <a:cs typeface="Calibri" pitchFamily="34" charset="-120"/>
              </a:rPr>
              <a:t>• Data privacy &amp; surveillance concerns</a:t>
            </a:r>
            <a:endParaRPr lang="en-US" sz="1150" dirty="0"/>
          </a:p>
          <a:p>
            <a:pPr marL="0" indent="0">
              <a:lnSpc>
                <a:spcPct val="135000"/>
              </a:lnSpc>
              <a:buNone/>
            </a:pPr>
            <a:r>
              <a:rPr lang="en-US" sz="1150" dirty="0">
                <a:solidFill>
                  <a:srgbClr val="6B2A21"/>
                </a:solidFill>
                <a:latin typeface="Calibri" pitchFamily="34" charset="0"/>
                <a:ea typeface="Calibri" pitchFamily="34" charset="-122"/>
                <a:cs typeface="Calibri" pitchFamily="34" charset="-120"/>
              </a:rPr>
              <a:t>• Legacy-system interoperability gaps</a:t>
            </a:r>
            <a:endParaRPr lang="en-US" sz="1150" dirty="0"/>
          </a:p>
          <a:p>
            <a:pPr marL="0" indent="0">
              <a:lnSpc>
                <a:spcPct val="135000"/>
              </a:lnSpc>
              <a:buNone/>
            </a:pPr>
            <a:r>
              <a:rPr lang="en-US" sz="1150" dirty="0">
                <a:solidFill>
                  <a:srgbClr val="6B2A21"/>
                </a:solidFill>
                <a:latin typeface="Calibri" pitchFamily="34" charset="0"/>
                <a:ea typeface="Calibri" pitchFamily="34" charset="-122"/>
                <a:cs typeface="Calibri" pitchFamily="34" charset="-120"/>
              </a:rPr>
              <a:t>• Dependence on network reliability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645920" y="-1645920"/>
            <a:ext cx="4023360" cy="4023360"/>
          </a:xfrm>
          <a:prstGeom prst="ellipse">
            <a:avLst/>
          </a:prstGeom>
          <a:solidFill>
            <a:srgbClr val="065A82">
              <a:alpha val="45000"/>
            </a:srgbClr>
          </a:solidFill>
          <a:ln/>
        </p:spPr>
      </p:sp>
      <p:sp>
        <p:nvSpPr>
          <p:cNvPr id="3" name="Shape 1"/>
          <p:cNvSpPr/>
          <p:nvPr/>
        </p:nvSpPr>
        <p:spPr>
          <a:xfrm>
            <a:off x="10607040" y="4754880"/>
            <a:ext cx="3291840" cy="3291840"/>
          </a:xfrm>
          <a:prstGeom prst="ellipse">
            <a:avLst/>
          </a:prstGeom>
          <a:solidFill>
            <a:srgbClr val="1C7293">
              <a:alpha val="40000"/>
            </a:srgbClr>
          </a:solidFill>
          <a:ln/>
        </p:spPr>
      </p:sp>
      <p:sp>
        <p:nvSpPr>
          <p:cNvPr id="4" name="Text 2"/>
          <p:cNvSpPr/>
          <p:nvPr/>
        </p:nvSpPr>
        <p:spPr>
          <a:xfrm>
            <a:off x="640080" y="411480"/>
            <a:ext cx="1097280" cy="457200"/>
          </a:xfrm>
          <a:prstGeom prst="rect">
            <a:avLst/>
          </a:prstGeom>
          <a:noFill/>
          <a:ln/>
        </p:spPr>
        <p:txBody>
          <a:bodyPr wrap="square" rtlCol="0" anchor="ctr"/>
          <a:lstStyle/>
          <a:p>
            <a:pPr marL="0" indent="0">
              <a:buNone/>
            </a:pPr>
            <a:r>
              <a:rPr lang="en-US" sz="2000" b="1" dirty="0">
                <a:solidFill>
                  <a:srgbClr val="4A5A85"/>
                </a:solidFill>
                <a:latin typeface="Cambria" pitchFamily="34" charset="0"/>
                <a:ea typeface="Cambria" pitchFamily="34" charset="-122"/>
                <a:cs typeface="Cambria" pitchFamily="34" charset="-120"/>
              </a:rPr>
              <a:t>04</a:t>
            </a:r>
            <a:endParaRPr lang="en-US" sz="2000" dirty="0"/>
          </a:p>
        </p:txBody>
      </p:sp>
      <p:sp>
        <p:nvSpPr>
          <p:cNvPr id="5" name="Text 3"/>
          <p:cNvSpPr/>
          <p:nvPr/>
        </p:nvSpPr>
        <p:spPr>
          <a:xfrm>
            <a:off x="640080" y="777240"/>
            <a:ext cx="1088136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Challenges, Future Scope &amp; Conclusion</a:t>
            </a:r>
            <a:endParaRPr lang="en-US" sz="2800" dirty="0"/>
          </a:p>
        </p:txBody>
      </p:sp>
      <p:sp>
        <p:nvSpPr>
          <p:cNvPr id="6" name="Text 4"/>
          <p:cNvSpPr/>
          <p:nvPr/>
        </p:nvSpPr>
        <p:spPr>
          <a:xfrm>
            <a:off x="640080" y="1645920"/>
            <a:ext cx="5212080" cy="365760"/>
          </a:xfrm>
          <a:prstGeom prst="rect">
            <a:avLst/>
          </a:prstGeom>
          <a:noFill/>
          <a:ln/>
        </p:spPr>
        <p:txBody>
          <a:bodyPr wrap="square" rtlCol="0" anchor="ctr"/>
          <a:lstStyle/>
          <a:p>
            <a:pPr marL="0" indent="0">
              <a:buNone/>
            </a:pPr>
            <a:r>
              <a:rPr lang="en-US" sz="1500" b="1" dirty="0">
                <a:solidFill>
                  <a:srgbClr val="9FD1E8"/>
                </a:solidFill>
                <a:latin typeface="Calibri" pitchFamily="34" charset="0"/>
                <a:ea typeface="Calibri" pitchFamily="34" charset="-122"/>
                <a:cs typeface="Calibri" pitchFamily="34" charset="-120"/>
              </a:rPr>
              <a:t>Key Challenges</a:t>
            </a:r>
            <a:endParaRPr lang="en-US" sz="1500" dirty="0"/>
          </a:p>
        </p:txBody>
      </p:sp>
      <p:sp>
        <p:nvSpPr>
          <p:cNvPr id="7" name="Shape 5"/>
          <p:cNvSpPr/>
          <p:nvPr/>
        </p:nvSpPr>
        <p:spPr>
          <a:xfrm>
            <a:off x="640080" y="2148840"/>
            <a:ext cx="128016" cy="128016"/>
          </a:xfrm>
          <a:prstGeom prst="ellipse">
            <a:avLst/>
          </a:prstGeom>
          <a:solidFill>
            <a:srgbClr val="6FB8D6"/>
          </a:solidFill>
          <a:ln/>
        </p:spPr>
      </p:sp>
      <p:sp>
        <p:nvSpPr>
          <p:cNvPr id="8" name="Text 6"/>
          <p:cNvSpPr/>
          <p:nvPr/>
        </p:nvSpPr>
        <p:spPr>
          <a:xfrm>
            <a:off x="932688" y="2029968"/>
            <a:ext cx="4937760" cy="457200"/>
          </a:xfrm>
          <a:prstGeom prst="rect">
            <a:avLst/>
          </a:prstGeom>
          <a:noFill/>
          <a:ln/>
        </p:spPr>
        <p:txBody>
          <a:bodyPr wrap="square" rtlCol="0" anchor="t"/>
          <a:lstStyle/>
          <a:p>
            <a:pPr marL="0" indent="0">
              <a:buNone/>
            </a:pPr>
            <a:r>
              <a:rPr lang="en-US" sz="1200" dirty="0">
                <a:solidFill>
                  <a:srgbClr val="D7E6EC"/>
                </a:solidFill>
                <a:latin typeface="Calibri" pitchFamily="34" charset="0"/>
                <a:ea typeface="Calibri" pitchFamily="34" charset="-122"/>
                <a:cs typeface="Calibri" pitchFamily="34" charset="-120"/>
              </a:rPr>
              <a:t>Data privacy, surveillance, and cybersecurity risk</a:t>
            </a:r>
            <a:endParaRPr lang="en-US" sz="1200" dirty="0"/>
          </a:p>
        </p:txBody>
      </p:sp>
      <p:sp>
        <p:nvSpPr>
          <p:cNvPr id="9" name="Shape 7"/>
          <p:cNvSpPr/>
          <p:nvPr/>
        </p:nvSpPr>
        <p:spPr>
          <a:xfrm>
            <a:off x="640080" y="2651760"/>
            <a:ext cx="128016" cy="128016"/>
          </a:xfrm>
          <a:prstGeom prst="ellipse">
            <a:avLst/>
          </a:prstGeom>
          <a:solidFill>
            <a:srgbClr val="6FB8D6"/>
          </a:solidFill>
          <a:ln/>
        </p:spPr>
      </p:sp>
      <p:sp>
        <p:nvSpPr>
          <p:cNvPr id="10" name="Text 8"/>
          <p:cNvSpPr/>
          <p:nvPr/>
        </p:nvSpPr>
        <p:spPr>
          <a:xfrm>
            <a:off x="932688" y="2532888"/>
            <a:ext cx="4937760" cy="457200"/>
          </a:xfrm>
          <a:prstGeom prst="rect">
            <a:avLst/>
          </a:prstGeom>
          <a:noFill/>
          <a:ln/>
        </p:spPr>
        <p:txBody>
          <a:bodyPr wrap="square" rtlCol="0" anchor="t"/>
          <a:lstStyle/>
          <a:p>
            <a:pPr marL="0" indent="0">
              <a:buNone/>
            </a:pPr>
            <a:r>
              <a:rPr lang="en-US" sz="1200" dirty="0">
                <a:solidFill>
                  <a:srgbClr val="D7E6EC"/>
                </a:solidFill>
                <a:latin typeface="Calibri" pitchFamily="34" charset="0"/>
                <a:ea typeface="Calibri" pitchFamily="34" charset="-122"/>
                <a:cs typeface="Calibri" pitchFamily="34" charset="-120"/>
              </a:rPr>
              <a:t>High capital cost of citywide sensor deployment</a:t>
            </a:r>
            <a:endParaRPr lang="en-US" sz="1200" dirty="0"/>
          </a:p>
        </p:txBody>
      </p:sp>
      <p:sp>
        <p:nvSpPr>
          <p:cNvPr id="11" name="Shape 9"/>
          <p:cNvSpPr/>
          <p:nvPr/>
        </p:nvSpPr>
        <p:spPr>
          <a:xfrm>
            <a:off x="640080" y="3154680"/>
            <a:ext cx="128016" cy="128016"/>
          </a:xfrm>
          <a:prstGeom prst="ellipse">
            <a:avLst/>
          </a:prstGeom>
          <a:solidFill>
            <a:srgbClr val="6FB8D6"/>
          </a:solidFill>
          <a:ln/>
        </p:spPr>
      </p:sp>
      <p:sp>
        <p:nvSpPr>
          <p:cNvPr id="12" name="Text 10"/>
          <p:cNvSpPr/>
          <p:nvPr/>
        </p:nvSpPr>
        <p:spPr>
          <a:xfrm>
            <a:off x="932688" y="3035808"/>
            <a:ext cx="4937760" cy="457200"/>
          </a:xfrm>
          <a:prstGeom prst="rect">
            <a:avLst/>
          </a:prstGeom>
          <a:noFill/>
          <a:ln/>
        </p:spPr>
        <p:txBody>
          <a:bodyPr wrap="square" rtlCol="0" anchor="t"/>
          <a:lstStyle/>
          <a:p>
            <a:pPr marL="0" indent="0">
              <a:buNone/>
            </a:pPr>
            <a:r>
              <a:rPr lang="en-US" sz="1200" dirty="0">
                <a:solidFill>
                  <a:srgbClr val="D7E6EC"/>
                </a:solidFill>
                <a:latin typeface="Calibri" pitchFamily="34" charset="0"/>
                <a:ea typeface="Calibri" pitchFamily="34" charset="-122"/>
                <a:cs typeface="Calibri" pitchFamily="34" charset="-120"/>
              </a:rPr>
              <a:t>Interoperability across vendors and legacy systems</a:t>
            </a:r>
            <a:endParaRPr lang="en-US" sz="1200" dirty="0"/>
          </a:p>
        </p:txBody>
      </p:sp>
      <p:sp>
        <p:nvSpPr>
          <p:cNvPr id="13" name="Shape 11"/>
          <p:cNvSpPr/>
          <p:nvPr/>
        </p:nvSpPr>
        <p:spPr>
          <a:xfrm>
            <a:off x="640080" y="3657600"/>
            <a:ext cx="128016" cy="128016"/>
          </a:xfrm>
          <a:prstGeom prst="ellipse">
            <a:avLst/>
          </a:prstGeom>
          <a:solidFill>
            <a:srgbClr val="6FB8D6"/>
          </a:solidFill>
          <a:ln/>
        </p:spPr>
      </p:sp>
      <p:sp>
        <p:nvSpPr>
          <p:cNvPr id="14" name="Text 12"/>
          <p:cNvSpPr/>
          <p:nvPr/>
        </p:nvSpPr>
        <p:spPr>
          <a:xfrm>
            <a:off x="932688" y="3538728"/>
            <a:ext cx="4937760" cy="457200"/>
          </a:xfrm>
          <a:prstGeom prst="rect">
            <a:avLst/>
          </a:prstGeom>
          <a:noFill/>
          <a:ln/>
        </p:spPr>
        <p:txBody>
          <a:bodyPr wrap="square" rtlCol="0" anchor="t"/>
          <a:lstStyle/>
          <a:p>
            <a:pPr marL="0" indent="0">
              <a:buNone/>
            </a:pPr>
            <a:r>
              <a:rPr lang="en-US" sz="1200" dirty="0">
                <a:solidFill>
                  <a:srgbClr val="D7E6EC"/>
                </a:solidFill>
                <a:latin typeface="Calibri" pitchFamily="34" charset="0"/>
                <a:ea typeface="Calibri" pitchFamily="34" charset="-122"/>
                <a:cs typeface="Calibri" pitchFamily="34" charset="-120"/>
              </a:rPr>
              <a:t>Digital divide limiting equitable access to services</a:t>
            </a:r>
            <a:endParaRPr lang="en-US" sz="1200" dirty="0"/>
          </a:p>
        </p:txBody>
      </p:sp>
      <p:sp>
        <p:nvSpPr>
          <p:cNvPr id="15" name="Text 13"/>
          <p:cNvSpPr/>
          <p:nvPr/>
        </p:nvSpPr>
        <p:spPr>
          <a:xfrm>
            <a:off x="6263640" y="1645920"/>
            <a:ext cx="5212080" cy="365760"/>
          </a:xfrm>
          <a:prstGeom prst="rect">
            <a:avLst/>
          </a:prstGeom>
          <a:noFill/>
          <a:ln/>
        </p:spPr>
        <p:txBody>
          <a:bodyPr wrap="square" rtlCol="0" anchor="ctr"/>
          <a:lstStyle/>
          <a:p>
            <a:pPr marL="0" indent="0">
              <a:buNone/>
            </a:pPr>
            <a:r>
              <a:rPr lang="en-US" sz="1500" b="1" dirty="0">
                <a:solidFill>
                  <a:srgbClr val="9FD1E8"/>
                </a:solidFill>
                <a:latin typeface="Calibri" pitchFamily="34" charset="0"/>
                <a:ea typeface="Calibri" pitchFamily="34" charset="-122"/>
                <a:cs typeface="Calibri" pitchFamily="34" charset="-120"/>
              </a:rPr>
              <a:t>Future Scope</a:t>
            </a:r>
            <a:endParaRPr lang="en-US" sz="1500" dirty="0"/>
          </a:p>
        </p:txBody>
      </p:sp>
      <p:sp>
        <p:nvSpPr>
          <p:cNvPr id="16" name="Shape 14"/>
          <p:cNvSpPr/>
          <p:nvPr/>
        </p:nvSpPr>
        <p:spPr>
          <a:xfrm>
            <a:off x="6263640" y="2148840"/>
            <a:ext cx="128016" cy="128016"/>
          </a:xfrm>
          <a:prstGeom prst="ellipse">
            <a:avLst/>
          </a:prstGeom>
          <a:solidFill>
            <a:srgbClr val="6FB8D6"/>
          </a:solidFill>
          <a:ln/>
        </p:spPr>
      </p:sp>
      <p:sp>
        <p:nvSpPr>
          <p:cNvPr id="17" name="Text 15"/>
          <p:cNvSpPr/>
          <p:nvPr/>
        </p:nvSpPr>
        <p:spPr>
          <a:xfrm>
            <a:off x="6556248" y="2029968"/>
            <a:ext cx="4846320" cy="457200"/>
          </a:xfrm>
          <a:prstGeom prst="rect">
            <a:avLst/>
          </a:prstGeom>
          <a:noFill/>
          <a:ln/>
        </p:spPr>
        <p:txBody>
          <a:bodyPr wrap="square" rtlCol="0" anchor="t"/>
          <a:lstStyle/>
          <a:p>
            <a:pPr marL="0" indent="0">
              <a:buNone/>
            </a:pPr>
            <a:r>
              <a:rPr lang="en-US" sz="1200" dirty="0">
                <a:solidFill>
                  <a:srgbClr val="D7E6EC"/>
                </a:solidFill>
                <a:latin typeface="Calibri" pitchFamily="34" charset="0"/>
                <a:ea typeface="Calibri" pitchFamily="34" charset="-122"/>
                <a:cs typeface="Calibri" pitchFamily="34" charset="-120"/>
              </a:rPr>
              <a:t>6G-enabled ultra-low-latency city networks</a:t>
            </a:r>
            <a:endParaRPr lang="en-US" sz="1200" dirty="0"/>
          </a:p>
        </p:txBody>
      </p:sp>
      <p:sp>
        <p:nvSpPr>
          <p:cNvPr id="18" name="Shape 16"/>
          <p:cNvSpPr/>
          <p:nvPr/>
        </p:nvSpPr>
        <p:spPr>
          <a:xfrm>
            <a:off x="6263640" y="2651760"/>
            <a:ext cx="128016" cy="128016"/>
          </a:xfrm>
          <a:prstGeom prst="ellipse">
            <a:avLst/>
          </a:prstGeom>
          <a:solidFill>
            <a:srgbClr val="6FB8D6"/>
          </a:solidFill>
          <a:ln/>
        </p:spPr>
      </p:sp>
      <p:sp>
        <p:nvSpPr>
          <p:cNvPr id="19" name="Text 17"/>
          <p:cNvSpPr/>
          <p:nvPr/>
        </p:nvSpPr>
        <p:spPr>
          <a:xfrm>
            <a:off x="6556248" y="2532888"/>
            <a:ext cx="4846320" cy="457200"/>
          </a:xfrm>
          <a:prstGeom prst="rect">
            <a:avLst/>
          </a:prstGeom>
          <a:noFill/>
          <a:ln/>
        </p:spPr>
        <p:txBody>
          <a:bodyPr wrap="square" rtlCol="0" anchor="t"/>
          <a:lstStyle/>
          <a:p>
            <a:pPr marL="0" indent="0">
              <a:buNone/>
            </a:pPr>
            <a:r>
              <a:rPr lang="en-US" sz="1200" dirty="0">
                <a:solidFill>
                  <a:srgbClr val="D7E6EC"/>
                </a:solidFill>
                <a:latin typeface="Calibri" pitchFamily="34" charset="0"/>
                <a:ea typeface="Calibri" pitchFamily="34" charset="-122"/>
                <a:cs typeface="Calibri" pitchFamily="34" charset="-120"/>
              </a:rPr>
              <a:t>Digital twins for whole-city simulation &amp; planning</a:t>
            </a:r>
            <a:endParaRPr lang="en-US" sz="1200" dirty="0"/>
          </a:p>
        </p:txBody>
      </p:sp>
      <p:sp>
        <p:nvSpPr>
          <p:cNvPr id="20" name="Shape 18"/>
          <p:cNvSpPr/>
          <p:nvPr/>
        </p:nvSpPr>
        <p:spPr>
          <a:xfrm>
            <a:off x="6263640" y="3154680"/>
            <a:ext cx="128016" cy="128016"/>
          </a:xfrm>
          <a:prstGeom prst="ellipse">
            <a:avLst/>
          </a:prstGeom>
          <a:solidFill>
            <a:srgbClr val="6FB8D6"/>
          </a:solidFill>
          <a:ln/>
        </p:spPr>
      </p:sp>
      <p:sp>
        <p:nvSpPr>
          <p:cNvPr id="21" name="Text 19"/>
          <p:cNvSpPr/>
          <p:nvPr/>
        </p:nvSpPr>
        <p:spPr>
          <a:xfrm>
            <a:off x="6556248" y="3035808"/>
            <a:ext cx="4846320" cy="457200"/>
          </a:xfrm>
          <a:prstGeom prst="rect">
            <a:avLst/>
          </a:prstGeom>
          <a:noFill/>
          <a:ln/>
        </p:spPr>
        <p:txBody>
          <a:bodyPr wrap="square" rtlCol="0" anchor="t"/>
          <a:lstStyle/>
          <a:p>
            <a:pPr marL="0" indent="0">
              <a:buNone/>
            </a:pPr>
            <a:r>
              <a:rPr lang="en-US" sz="1200" dirty="0">
                <a:solidFill>
                  <a:srgbClr val="D7E6EC"/>
                </a:solidFill>
                <a:latin typeface="Calibri" pitchFamily="34" charset="0"/>
                <a:ea typeface="Calibri" pitchFamily="34" charset="-122"/>
                <a:cs typeface="Calibri" pitchFamily="34" charset="-120"/>
              </a:rPr>
              <a:t>Autonomous, AI-driven public transport fleets</a:t>
            </a:r>
            <a:endParaRPr lang="en-US" sz="1200" dirty="0"/>
          </a:p>
        </p:txBody>
      </p:sp>
      <p:sp>
        <p:nvSpPr>
          <p:cNvPr id="22" name="Shape 20"/>
          <p:cNvSpPr/>
          <p:nvPr/>
        </p:nvSpPr>
        <p:spPr>
          <a:xfrm>
            <a:off x="6263640" y="3657600"/>
            <a:ext cx="128016" cy="128016"/>
          </a:xfrm>
          <a:prstGeom prst="ellipse">
            <a:avLst/>
          </a:prstGeom>
          <a:solidFill>
            <a:srgbClr val="6FB8D6"/>
          </a:solidFill>
          <a:ln/>
        </p:spPr>
      </p:sp>
      <p:sp>
        <p:nvSpPr>
          <p:cNvPr id="23" name="Text 21"/>
          <p:cNvSpPr/>
          <p:nvPr/>
        </p:nvSpPr>
        <p:spPr>
          <a:xfrm>
            <a:off x="6556248" y="3538728"/>
            <a:ext cx="4846320" cy="457200"/>
          </a:xfrm>
          <a:prstGeom prst="rect">
            <a:avLst/>
          </a:prstGeom>
          <a:noFill/>
          <a:ln/>
        </p:spPr>
        <p:txBody>
          <a:bodyPr wrap="square" rtlCol="0" anchor="t"/>
          <a:lstStyle/>
          <a:p>
            <a:pPr marL="0" indent="0">
              <a:buNone/>
            </a:pPr>
            <a:r>
              <a:rPr lang="en-US" sz="1200" dirty="0">
                <a:solidFill>
                  <a:srgbClr val="D7E6EC"/>
                </a:solidFill>
                <a:latin typeface="Calibri" pitchFamily="34" charset="0"/>
                <a:ea typeface="Calibri" pitchFamily="34" charset="-122"/>
                <a:cs typeface="Calibri" pitchFamily="34" charset="-120"/>
              </a:rPr>
              <a:t>Federated learning to analyze data without exposing it</a:t>
            </a:r>
            <a:endParaRPr lang="en-US" sz="1200" dirty="0"/>
          </a:p>
        </p:txBody>
      </p:sp>
      <p:sp>
        <p:nvSpPr>
          <p:cNvPr id="24" name="Shape 22"/>
          <p:cNvSpPr/>
          <p:nvPr/>
        </p:nvSpPr>
        <p:spPr>
          <a:xfrm>
            <a:off x="640080" y="4434840"/>
            <a:ext cx="10881360" cy="1691640"/>
          </a:xfrm>
          <a:prstGeom prst="roundRect">
            <a:avLst>
              <a:gd name="adj" fmla="val 6486"/>
            </a:avLst>
          </a:prstGeom>
          <a:solidFill>
            <a:srgbClr val="065A82">
              <a:alpha val="85000"/>
            </a:srgbClr>
          </a:solidFill>
          <a:ln/>
        </p:spPr>
      </p:sp>
      <p:sp>
        <p:nvSpPr>
          <p:cNvPr id="25" name="Shape 23"/>
          <p:cNvSpPr/>
          <p:nvPr/>
        </p:nvSpPr>
        <p:spPr>
          <a:xfrm>
            <a:off x="914400" y="4709160"/>
            <a:ext cx="777240" cy="777240"/>
          </a:xfrm>
          <a:prstGeom prst="ellipse">
            <a:avLst/>
          </a:prstGeom>
          <a:solidFill>
            <a:srgbClr val="1C7293"/>
          </a:solidFill>
          <a:ln/>
        </p:spPr>
      </p:sp>
      <p:pic>
        <p:nvPicPr>
          <p:cNvPr id="26" name="Image 0" descr="/home/claude/pptx_work/icon_city_FFFFFF.png"/>
          <p:cNvPicPr>
            <a:picLocks noChangeAspect="1"/>
          </p:cNvPicPr>
          <p:nvPr/>
        </p:nvPicPr>
        <p:blipFill>
          <a:blip r:embed="rId3"/>
          <a:stretch>
            <a:fillRect/>
          </a:stretch>
        </p:blipFill>
        <p:spPr>
          <a:xfrm>
            <a:off x="1089279" y="4884039"/>
            <a:ext cx="427482" cy="427482"/>
          </a:xfrm>
          <a:prstGeom prst="rect">
            <a:avLst/>
          </a:prstGeom>
        </p:spPr>
      </p:pic>
      <p:sp>
        <p:nvSpPr>
          <p:cNvPr id="27" name="Text 24"/>
          <p:cNvSpPr/>
          <p:nvPr/>
        </p:nvSpPr>
        <p:spPr>
          <a:xfrm>
            <a:off x="1920240" y="4663440"/>
            <a:ext cx="914400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Conclusion</a:t>
            </a:r>
            <a:endParaRPr lang="en-US" sz="1500" dirty="0"/>
          </a:p>
        </p:txBody>
      </p:sp>
      <p:sp>
        <p:nvSpPr>
          <p:cNvPr id="28" name="Text 25"/>
          <p:cNvSpPr/>
          <p:nvPr/>
        </p:nvSpPr>
        <p:spPr>
          <a:xfrm>
            <a:off x="1920240" y="5074920"/>
            <a:ext cx="9326880" cy="1005840"/>
          </a:xfrm>
          <a:prstGeom prst="rect">
            <a:avLst/>
          </a:prstGeom>
          <a:noFill/>
          <a:ln/>
        </p:spPr>
        <p:txBody>
          <a:bodyPr wrap="square" rtlCol="0" anchor="ctr"/>
          <a:lstStyle/>
          <a:p>
            <a:pPr marL="0" indent="0">
              <a:lnSpc>
                <a:spcPct val="135000"/>
              </a:lnSpc>
              <a:buNone/>
            </a:pPr>
            <a:r>
              <a:rPr lang="en-US" sz="1200" dirty="0">
                <a:solidFill>
                  <a:srgbClr val="D7E6EC"/>
                </a:solidFill>
                <a:latin typeface="Calibri" pitchFamily="34" charset="0"/>
                <a:ea typeface="Calibri" pitchFamily="34" charset="-122"/>
                <a:cs typeface="Calibri" pitchFamily="34" charset="-120"/>
              </a:rPr>
              <a:t>Smart cities combine IoT sensing, AI analytics, and connected infrastructure to make urban systems more efficient and responsive. Realizing this future responsibly requires balancing innovation with privacy, security, and equitable access for all citizens.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506</Words>
  <Application>Microsoft Office PowerPoint</Application>
  <PresentationFormat>Widescreen</PresentationFormat>
  <Paragraphs>73</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Giriprasad Reddy P</cp:lastModifiedBy>
  <cp:revision>3</cp:revision>
  <dcterms:created xsi:type="dcterms:W3CDTF">2026-08-25T07:28:04Z</dcterms:created>
  <dcterms:modified xsi:type="dcterms:W3CDTF">2026-08-25T12:58:04Z</dcterms:modified>
</cp:coreProperties>
</file>